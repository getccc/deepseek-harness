
<file path=[Content_Types].xml><?xml version="1.0" encoding="utf-8"?>
<Types xmlns="http://schemas.openxmlformats.org/package/2006/content-types">
  <Default Extension="bmp" ContentType="image/bmp"/>
  <Default Extension="emf" ContentType="image/x-emf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webp" ContentType="image/webp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</p:sldIdLst>
  <p:sldSz cx="12192000" cy="6858000" type="screen16x9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-center-title"/>
          <p:cNvSpPr/>
          <p:nvPr>
            <p:ph type="ctrTitle"/>
          </p:nvPr>
        </p:nvSpPr>
        <p:spPr>
          <a:xfrm>
            <a:off x="609600" y="1920240"/>
            <a:ext cx="10972800" cy="127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/>
              <a:t>Click to edit Master text styles</a:t>
            </a:r>
          </a:p>
        </p:txBody>
      </p:sp>
      <p:sp>
        <p:nvSpPr>
          <p:cNvPr id="3" name="ph-subtitle"/>
          <p:cNvSpPr/>
          <p:nvPr>
            <p:ph type="subTitle"/>
          </p:nvPr>
        </p:nvSpPr>
        <p:spPr>
          <a:xfrm>
            <a:off x="609600" y="3393440"/>
            <a:ext cx="10972800" cy="7112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-title"/>
          <p:cNvSpPr/>
          <p:nvPr>
            <p:ph type="title"/>
          </p:nvPr>
        </p:nvSpPr>
        <p:spPr>
          <a:xfrm>
            <a:off x="609600" y="406400"/>
            <a:ext cx="10972800" cy="9652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/>
              <a:t>Click to edit Master text styles</a:t>
            </a:r>
          </a:p>
        </p:txBody>
      </p:sp>
      <p:sp>
        <p:nvSpPr>
          <p:cNvPr id="3" name="ph-body"/>
          <p:cNvSpPr/>
          <p:nvPr>
            <p:ph type="body"/>
          </p:nvPr>
        </p:nvSpPr>
        <p:spPr>
          <a:xfrm>
            <a:off x="609600" y="1625600"/>
            <a:ext cx="10972800" cy="4826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-center-title"/>
          <p:cNvSpPr/>
          <p:nvPr>
            <p:ph type="ctrTitle"/>
          </p:nvPr>
        </p:nvSpPr>
        <p:spPr>
          <a:xfrm>
            <a:off x="609600" y="1714500"/>
            <a:ext cx="10972800" cy="127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/>
              <a:t>Click to edit Master text styles</a:t>
            </a:r>
          </a:p>
        </p:txBody>
      </p:sp>
      <p:sp>
        <p:nvSpPr>
          <p:cNvPr id="3" name="ph-text"/>
          <p:cNvSpPr/>
          <p:nvPr>
            <p:ph type="body"/>
          </p:nvPr>
        </p:nvSpPr>
        <p:spPr>
          <a:xfrm>
            <a:off x="609600" y="3187700"/>
            <a:ext cx="10972800" cy="7112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-title"/>
          <p:cNvSpPr/>
          <p:nvPr>
            <p:ph type="title"/>
          </p:nvPr>
        </p:nvSpPr>
        <p:spPr>
          <a:xfrm>
            <a:off x="609600" y="406400"/>
            <a:ext cx="10972800" cy="9652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/>
              <a:t>Click to edit Master text styles</a:t>
            </a:r>
          </a:p>
        </p:txBody>
      </p:sp>
      <p:sp>
        <p:nvSpPr>
          <p:cNvPr id="3" name="ph-body-left"/>
          <p:cNvSpPr/>
          <p:nvPr>
            <p:ph type="body" idx="1"/>
          </p:nvPr>
        </p:nvSpPr>
        <p:spPr>
          <a:xfrm>
            <a:off x="609600" y="1625600"/>
            <a:ext cx="5359400" cy="4826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/>
              <a:t>Click to edit Master text styles</a:t>
            </a:r>
          </a:p>
        </p:txBody>
      </p:sp>
      <p:sp>
        <p:nvSpPr>
          <p:cNvPr id="4" name="ph-body-right"/>
          <p:cNvSpPr/>
          <p:nvPr>
            <p:ph type="body" idx="2"/>
          </p:nvPr>
        </p:nvSpPr>
        <p:spPr>
          <a:xfrm>
            <a:off x="6223000" y="1625600"/>
            <a:ext cx="5359400" cy="4826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-title"/>
          <p:cNvSpPr/>
          <p:nvPr>
            <p:ph type="title"/>
          </p:nvPr>
        </p:nvSpPr>
        <p:spPr>
          <a:xfrm>
            <a:off x="609600" y="406400"/>
            <a:ext cx="10972800" cy="9652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/>
              <a:t>Click to edit Master text styles</a:t>
            </a:r>
          </a:p>
        </p:txBody>
      </p:sp>
      <p:sp>
        <p:nvSpPr>
          <p:cNvPr id="3" name="ph-text-left"/>
          <p:cNvSpPr/>
          <p:nvPr>
            <p:ph type="body" idx="1"/>
          </p:nvPr>
        </p:nvSpPr>
        <p:spPr>
          <a:xfrm>
            <a:off x="609600" y="1625600"/>
            <a:ext cx="5359400" cy="508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/>
              <a:t>Click to edit Master text styles</a:t>
            </a:r>
          </a:p>
        </p:txBody>
      </p:sp>
      <p:sp>
        <p:nvSpPr>
          <p:cNvPr id="4" name="ph-text-right"/>
          <p:cNvSpPr/>
          <p:nvPr>
            <p:ph type="body" idx="2"/>
          </p:nvPr>
        </p:nvSpPr>
        <p:spPr>
          <a:xfrm>
            <a:off x="6223000" y="1625600"/>
            <a:ext cx="5359400" cy="508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/>
              <a:t>Click to edit Master text styles</a:t>
            </a:r>
          </a:p>
        </p:txBody>
      </p:sp>
      <p:sp>
        <p:nvSpPr>
          <p:cNvPr id="5" name="ph-body-left"/>
          <p:cNvSpPr/>
          <p:nvPr>
            <p:ph type="body" idx="1"/>
          </p:nvPr>
        </p:nvSpPr>
        <p:spPr>
          <a:xfrm>
            <a:off x="609600" y="2235200"/>
            <a:ext cx="5359400" cy="42164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/>
              <a:t>Click to edit Master text styles</a:t>
            </a:r>
          </a:p>
        </p:txBody>
      </p:sp>
      <p:sp>
        <p:nvSpPr>
          <p:cNvPr id="6" name="ph-body-right"/>
          <p:cNvSpPr/>
          <p:nvPr>
            <p:ph type="body" idx="2"/>
          </p:nvPr>
        </p:nvSpPr>
        <p:spPr>
          <a:xfrm>
            <a:off x="6223000" y="2235200"/>
            <a:ext cx="5359400" cy="42164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-title"/>
          <p:cNvSpPr/>
          <p:nvPr>
            <p:ph type="title"/>
          </p:nvPr>
        </p:nvSpPr>
        <p:spPr>
          <a:xfrm>
            <a:off x="609600" y="406400"/>
            <a:ext cx="10972800" cy="9652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-picture"/>
          <p:cNvSpPr/>
          <p:nvPr>
            <p:ph type="pic"/>
          </p:nvPr>
        </p:nvSpPr>
        <p:spPr>
          <a:xfrm>
            <a:off x="609600" y="406400"/>
            <a:ext cx="10972800" cy="49276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/>
              <a:t>Click to edit Master text styles</a:t>
            </a:r>
          </a:p>
        </p:txBody>
      </p:sp>
      <p:sp>
        <p:nvSpPr>
          <p:cNvPr id="3" name="ph-caption"/>
          <p:cNvSpPr/>
          <p:nvPr>
            <p:ph type="body"/>
          </p:nvPr>
        </p:nvSpPr>
        <p:spPr>
          <a:xfrm>
            <a:off x="609600" y="5537200"/>
            <a:ext cx="10972800" cy="7112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Office Them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1"/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ellipse 1"/>
          <p:cNvSpPr/>
          <p:nvPr/>
        </p:nvSpPr>
        <p:spPr>
          <a:xfrm>
            <a:off x="8763000" y="-254000"/>
            <a:ext cx="3556000" cy="3556000"/>
          </a:xfrm>
          <a:prstGeom prst="ellipse">
            <a:avLst/>
          </a:prstGeom>
          <a:solidFill>
            <a:srgbClr val="DEEBF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ellipse 2"/>
          <p:cNvSpPr/>
          <p:nvPr/>
        </p:nvSpPr>
        <p:spPr>
          <a:xfrm>
            <a:off x="8636000" y="2565400"/>
            <a:ext cx="1524000" cy="1524000"/>
          </a:xfrm>
          <a:prstGeom prst="ellipse">
            <a:avLst/>
          </a:prstGeom>
          <a:solidFill>
            <a:srgbClr val="FFE69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 2"/>
          <p:cNvSpPr/>
          <p:nvPr/>
        </p:nvSpPr>
        <p:spPr>
          <a:xfrm>
            <a:off x="1016000" y="1701800"/>
            <a:ext cx="3810000" cy="203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7000"/>
              </a:lnSpc>
            </a:pPr>
            <a:r>
              <a:rPr lang="en-US" sz="1300" b="1">
                <a:solidFill>
                  <a:srgbClr val="4472C4"/>
                </a:solidFill>
                <a:latin typeface="&quot;PingFang SC&quot;"/>
                <a:ea typeface="&quot;Hiragino Sans GB&quot;"/>
              </a:rPr>
              <a:t>MONTHLY EXPENSE REPORT · AUGUST 2026</a:t>
            </a:r>
          </a:p>
        </p:txBody>
      </p:sp>
      <p:sp>
        <p:nvSpPr>
          <p:cNvPr id="6" name="rect 3"/>
          <p:cNvSpPr/>
          <p:nvPr/>
        </p:nvSpPr>
        <p:spPr>
          <a:xfrm>
            <a:off x="1016000" y="2019300"/>
            <a:ext cx="5549900" cy="6731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5000"/>
              </a:lnSpc>
            </a:pPr>
            <a:r>
              <a:rPr lang="zh-CN" sz="4400" b="1">
                <a:solidFill>
                  <a:srgbClr val="1F4E79"/>
                </a:solidFill>
                <a:latin typeface="&quot;PingFang SC&quot;"/>
                <a:ea typeface="&quot;PingFang SC&quot;"/>
              </a:rPr>
              <a:t>2026年8月支出报告</a:t>
            </a:r>
          </a:p>
        </p:txBody>
      </p:sp>
      <p:sp>
        <p:nvSpPr>
          <p:cNvPr id="7" name="roundRect 1"/>
          <p:cNvSpPr/>
          <p:nvPr/>
        </p:nvSpPr>
        <p:spPr>
          <a:xfrm>
            <a:off x="1066800" y="2946400"/>
            <a:ext cx="914400" cy="76200"/>
          </a:xfrm>
          <a:prstGeom prst="roundRect">
            <a:avLst>
              <a:gd fmla="val 50000" name="adj"/>
            </a:avLst>
          </a:prstGeom>
          <a:solidFill>
            <a:srgbClr val="ED7D3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 4"/>
          <p:cNvSpPr/>
          <p:nvPr/>
        </p:nvSpPr>
        <p:spPr>
          <a:xfrm>
            <a:off x="1016000" y="3314700"/>
            <a:ext cx="6819900" cy="2413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7000"/>
              </a:lnSpc>
            </a:pPr>
            <a:r>
              <a:rPr lang="zh-CN" sz="1600">
                <a:solidFill>
                  <a:srgbClr val="595959"/>
                </a:solidFill>
                <a:latin typeface="&quot;PingFang SC&quot;"/>
                <a:ea typeface="&quot;PingFang SC&quot;"/>
              </a:rPr>
              <a:t>统计期间 2026-08-01 至 2026-08-28 · 记录 10 笔 · 覆盖 6 个支出分类</a:t>
            </a:r>
          </a:p>
        </p:txBody>
      </p:sp>
      <p:sp>
        <p:nvSpPr>
          <p:cNvPr id="9" name="roundRect 2"/>
          <p:cNvSpPr/>
          <p:nvPr/>
        </p:nvSpPr>
        <p:spPr>
          <a:xfrm>
            <a:off x="1016000" y="5029200"/>
            <a:ext cx="3175000" cy="1320800"/>
          </a:xfrm>
          <a:prstGeom prst="roundRect">
            <a:avLst>
              <a:gd fmla="val 7692" name="adj"/>
            </a:avLst>
          </a:prstGeom>
          <a:solidFill>
            <a:srgbClr val="F7F9FC"/>
          </a:solidFill>
          <a:ln w="12700">
            <a:solidFill>
              <a:srgbClr val="D9E2F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 5"/>
          <p:cNvSpPr/>
          <p:nvPr/>
        </p:nvSpPr>
        <p:spPr>
          <a:xfrm>
            <a:off x="1270000" y="5245100"/>
            <a:ext cx="558800" cy="1778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5000"/>
              </a:lnSpc>
            </a:pPr>
            <a:r>
              <a:rPr lang="zh-CN" sz="1200">
                <a:solidFill>
                  <a:srgbClr val="808080"/>
                </a:solidFill>
                <a:latin typeface="&quot;PingFang SC&quot;"/>
                <a:ea typeface="&quot;PingFang SC&quot;"/>
              </a:rPr>
              <a:t>总支出</a:t>
            </a:r>
          </a:p>
        </p:txBody>
      </p:sp>
      <p:sp>
        <p:nvSpPr>
          <p:cNvPr id="11" name="rect 6"/>
          <p:cNvSpPr/>
          <p:nvPr/>
        </p:nvSpPr>
        <p:spPr>
          <a:xfrm>
            <a:off x="1270000" y="5562600"/>
            <a:ext cx="1689100" cy="457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6000"/>
              </a:lnSpc>
            </a:pPr>
            <a:r>
              <a:rPr lang="en-US" sz="3000" b="1">
                <a:solidFill>
                  <a:srgbClr val="1F4E79"/>
                </a:solidFill>
                <a:latin typeface="&quot;PingFang SC&quot;"/>
                <a:ea typeface="&quot;Hiragino Sans GB&quot;"/>
              </a:rPr>
              <a:t>¥1,131.80</a:t>
            </a:r>
          </a:p>
        </p:txBody>
      </p:sp>
      <p:sp>
        <p:nvSpPr>
          <p:cNvPr id="12" name="roundRect 3"/>
          <p:cNvSpPr/>
          <p:nvPr/>
        </p:nvSpPr>
        <p:spPr>
          <a:xfrm>
            <a:off x="4495800" y="5029200"/>
            <a:ext cx="3175000" cy="1320800"/>
          </a:xfrm>
          <a:prstGeom prst="roundRect">
            <a:avLst>
              <a:gd fmla="val 7692" name="adj"/>
            </a:avLst>
          </a:prstGeom>
          <a:solidFill>
            <a:srgbClr val="F7F9FC"/>
          </a:solidFill>
          <a:ln w="12700">
            <a:solidFill>
              <a:srgbClr val="D9E2F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 7"/>
          <p:cNvSpPr/>
          <p:nvPr/>
        </p:nvSpPr>
        <p:spPr>
          <a:xfrm>
            <a:off x="4749800" y="5245100"/>
            <a:ext cx="711200" cy="1778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5000"/>
              </a:lnSpc>
            </a:pPr>
            <a:r>
              <a:rPr lang="zh-CN" sz="1200">
                <a:solidFill>
                  <a:srgbClr val="808080"/>
                </a:solidFill>
                <a:latin typeface="&quot;PingFang SC&quot;"/>
                <a:ea typeface="&quot;PingFang SC&quot;"/>
              </a:rPr>
              <a:t>记录笔数</a:t>
            </a:r>
          </a:p>
        </p:txBody>
      </p:sp>
      <p:sp>
        <p:nvSpPr>
          <p:cNvPr id="14" name="rect 8"/>
          <p:cNvSpPr/>
          <p:nvPr/>
        </p:nvSpPr>
        <p:spPr>
          <a:xfrm>
            <a:off x="4749800" y="5562600"/>
            <a:ext cx="990600" cy="457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6000"/>
              </a:lnSpc>
            </a:pPr>
            <a:r>
              <a:rPr lang="zh-CN" sz="3000" b="1">
                <a:solidFill>
                  <a:srgbClr val="1F4E79"/>
                </a:solidFill>
                <a:latin typeface="&quot;PingFang SC&quot;"/>
                <a:ea typeface="&quot;PingFang SC&quot;"/>
              </a:rPr>
              <a:t>10 笔</a:t>
            </a:r>
          </a:p>
        </p:txBody>
      </p:sp>
      <p:sp>
        <p:nvSpPr>
          <p:cNvPr id="15" name="roundRect 4"/>
          <p:cNvSpPr/>
          <p:nvPr/>
        </p:nvSpPr>
        <p:spPr>
          <a:xfrm>
            <a:off x="7975600" y="5029200"/>
            <a:ext cx="3175000" cy="1320800"/>
          </a:xfrm>
          <a:prstGeom prst="roundRect">
            <a:avLst>
              <a:gd fmla="val 7692" name="adj"/>
            </a:avLst>
          </a:prstGeom>
          <a:solidFill>
            <a:srgbClr val="F7F9FC"/>
          </a:solidFill>
          <a:ln w="12700">
            <a:solidFill>
              <a:srgbClr val="D9E2F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 9"/>
          <p:cNvSpPr/>
          <p:nvPr/>
        </p:nvSpPr>
        <p:spPr>
          <a:xfrm>
            <a:off x="8229600" y="5245100"/>
            <a:ext cx="1701800" cy="1778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5000"/>
              </a:lnSpc>
            </a:pPr>
            <a:r>
              <a:rPr lang="zh-CN" sz="1200">
                <a:solidFill>
                  <a:srgbClr val="808080"/>
                </a:solidFill>
                <a:latin typeface="&quot;PingFang SC&quot;"/>
                <a:ea typeface="&quot;PingFang SC&quot;"/>
              </a:rPr>
              <a:t>日均支出（28 天口径）</a:t>
            </a:r>
          </a:p>
        </p:txBody>
      </p:sp>
      <p:sp>
        <p:nvSpPr>
          <p:cNvPr id="17" name="rect 10"/>
          <p:cNvSpPr/>
          <p:nvPr/>
        </p:nvSpPr>
        <p:spPr>
          <a:xfrm>
            <a:off x="8229600" y="5562600"/>
            <a:ext cx="1117600" cy="457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6000"/>
              </a:lnSpc>
            </a:pPr>
            <a:r>
              <a:rPr lang="en-US" sz="3000" b="1">
                <a:solidFill>
                  <a:srgbClr val="1F4E79"/>
                </a:solidFill>
                <a:latin typeface="&quot;PingFang SC&quot;"/>
                <a:ea typeface="&quot;Hiragino Sans GB&quot;"/>
              </a:rPr>
              <a:t>¥40.4</a:t>
            </a:r>
          </a:p>
        </p:txBody>
      </p:sp>
      <p:sp>
        <p:nvSpPr>
          <p:cNvPr id="18" name="rect 11"/>
          <p:cNvSpPr/>
          <p:nvPr/>
        </p:nvSpPr>
        <p:spPr>
          <a:xfrm>
            <a:off x="1016000" y="6489700"/>
            <a:ext cx="2501900" cy="1397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68000"/>
              </a:lnSpc>
            </a:pPr>
            <a:r>
              <a:rPr lang="zh-CN" sz="900">
                <a:solidFill>
                  <a:srgbClr val="808080"/>
                </a:solidFill>
                <a:latin typeface="&quot;PingFang SC&quot;"/>
                <a:ea typeface="&quot;PingFang SC&quot;"/>
              </a:rPr>
              <a:t>数据来源：《月度支出表》与《月度支出报告》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1"/>
          <p:cNvSpPr/>
          <p:nvPr/>
        </p:nvSpPr>
        <p:spPr>
          <a:xfrm>
            <a:off x="1016000" y="355600"/>
            <a:ext cx="1422400" cy="3937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4000"/>
              </a:lnSpc>
            </a:pPr>
            <a:r>
              <a:rPr lang="zh-CN" sz="2600" b="1">
                <a:solidFill>
                  <a:srgbClr val="1F4E79"/>
                </a:solidFill>
                <a:latin typeface="&quot;PingFang SC&quot;"/>
                <a:ea typeface="&quot;PingFang SC&quot;"/>
              </a:rPr>
              <a:t>支出总览</a:t>
            </a:r>
          </a:p>
        </p:txBody>
      </p:sp>
      <p:sp>
        <p:nvSpPr>
          <p:cNvPr id="3" name="roundRect 1"/>
          <p:cNvSpPr/>
          <p:nvPr/>
        </p:nvSpPr>
        <p:spPr>
          <a:xfrm>
            <a:off x="1066800" y="838200"/>
            <a:ext cx="685800" cy="63500"/>
          </a:xfrm>
          <a:prstGeom prst="roundRect">
            <a:avLst>
              <a:gd fmla="val 50000" name="adj"/>
            </a:avLst>
          </a:prstGeom>
          <a:solidFill>
            <a:srgbClr val="ED7D3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 2"/>
          <p:cNvSpPr/>
          <p:nvPr/>
        </p:nvSpPr>
        <p:spPr>
          <a:xfrm>
            <a:off x="9702800" y="546100"/>
            <a:ext cx="1473200" cy="1778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r">
              <a:lnSpc>
                <a:spcPct val="85000"/>
              </a:lnSpc>
            </a:pPr>
            <a:r>
              <a:rPr lang="zh-CN" sz="1200">
                <a:solidFill>
                  <a:srgbClr val="808080"/>
                </a:solidFill>
                <a:latin typeface="&quot;PingFang SC&quot;"/>
                <a:ea typeface="&quot;PingFang SC&quot;"/>
              </a:rPr>
              <a:t>金额单位：人民币元</a:t>
            </a:r>
          </a:p>
        </p:txBody>
      </p:sp>
      <p:sp>
        <p:nvSpPr>
          <p:cNvPr id="5" name="roundRect 2"/>
          <p:cNvSpPr/>
          <p:nvPr/>
        </p:nvSpPr>
        <p:spPr>
          <a:xfrm>
            <a:off x="1016000" y="1524000"/>
            <a:ext cx="4927600" cy="2133600"/>
          </a:xfrm>
          <a:prstGeom prst="roundRect">
            <a:avLst>
              <a:gd fmla="val 5952" name="adj"/>
            </a:avLst>
          </a:prstGeom>
          <a:solidFill>
            <a:srgbClr val="F7F9FC"/>
          </a:solidFill>
          <a:ln w="12700">
            <a:solidFill>
              <a:srgbClr val="D9E2F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" name="rect 3"/>
          <p:cNvSpPr/>
          <p:nvPr/>
        </p:nvSpPr>
        <p:spPr>
          <a:xfrm>
            <a:off x="1371600" y="1816100"/>
            <a:ext cx="1435100" cy="1778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5000"/>
              </a:lnSpc>
            </a:pPr>
            <a:r>
              <a:rPr lang="zh-CN" sz="1200">
                <a:solidFill>
                  <a:srgbClr val="808080"/>
                </a:solidFill>
                <a:latin typeface="&quot;PingFang SC&quot;"/>
                <a:ea typeface="&quot;PingFang SC&quot;"/>
              </a:rPr>
              <a:t>2026年8月总支出</a:t>
            </a:r>
          </a:p>
        </p:txBody>
      </p:sp>
      <p:sp>
        <p:nvSpPr>
          <p:cNvPr id="7" name="rect 4"/>
          <p:cNvSpPr/>
          <p:nvPr/>
        </p:nvSpPr>
        <p:spPr>
          <a:xfrm>
            <a:off x="1371600" y="2438400"/>
            <a:ext cx="1689100" cy="457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6000"/>
              </a:lnSpc>
            </a:pPr>
            <a:r>
              <a:rPr lang="en-US" sz="3000" b="1">
                <a:solidFill>
                  <a:srgbClr val="1F4E79"/>
                </a:solidFill>
                <a:latin typeface="&quot;PingFang SC&quot;"/>
                <a:ea typeface="&quot;Hiragino Sans GB&quot;"/>
              </a:rPr>
              <a:t>¥1,131.80</a:t>
            </a:r>
          </a:p>
        </p:txBody>
      </p:sp>
      <p:sp>
        <p:nvSpPr>
          <p:cNvPr id="8" name="roundRect 3"/>
          <p:cNvSpPr/>
          <p:nvPr/>
        </p:nvSpPr>
        <p:spPr>
          <a:xfrm>
            <a:off x="6248400" y="1524000"/>
            <a:ext cx="4927600" cy="2133600"/>
          </a:xfrm>
          <a:prstGeom prst="roundRect">
            <a:avLst>
              <a:gd fmla="val 5952" name="adj"/>
            </a:avLst>
          </a:prstGeom>
          <a:solidFill>
            <a:srgbClr val="F7F9FC"/>
          </a:solidFill>
          <a:ln w="12700">
            <a:solidFill>
              <a:srgbClr val="D9E2F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" name="rect 5"/>
          <p:cNvSpPr/>
          <p:nvPr/>
        </p:nvSpPr>
        <p:spPr>
          <a:xfrm>
            <a:off x="6604000" y="1816100"/>
            <a:ext cx="711200" cy="1778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5000"/>
              </a:lnSpc>
            </a:pPr>
            <a:r>
              <a:rPr lang="zh-CN" sz="1200">
                <a:solidFill>
                  <a:srgbClr val="808080"/>
                </a:solidFill>
                <a:latin typeface="&quot;PingFang SC&quot;"/>
                <a:ea typeface="&quot;PingFang SC&quot;"/>
              </a:rPr>
              <a:t>记录笔数</a:t>
            </a:r>
          </a:p>
        </p:txBody>
      </p:sp>
      <p:sp>
        <p:nvSpPr>
          <p:cNvPr id="10" name="rect 6"/>
          <p:cNvSpPr/>
          <p:nvPr/>
        </p:nvSpPr>
        <p:spPr>
          <a:xfrm>
            <a:off x="6604000" y="2438400"/>
            <a:ext cx="990600" cy="457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6000"/>
              </a:lnSpc>
            </a:pPr>
            <a:r>
              <a:rPr lang="zh-CN" sz="3000" b="1">
                <a:solidFill>
                  <a:srgbClr val="1F4E79"/>
                </a:solidFill>
                <a:latin typeface="&quot;PingFang SC&quot;"/>
                <a:ea typeface="&quot;PingFang SC&quot;"/>
              </a:rPr>
              <a:t>10 笔</a:t>
            </a:r>
          </a:p>
        </p:txBody>
      </p:sp>
      <p:sp>
        <p:nvSpPr>
          <p:cNvPr id="11" name="rect 7"/>
          <p:cNvSpPr/>
          <p:nvPr/>
        </p:nvSpPr>
        <p:spPr>
          <a:xfrm>
            <a:off x="6604000" y="3136900"/>
            <a:ext cx="1257300" cy="1778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5000"/>
              </a:lnSpc>
            </a:pPr>
            <a:r>
              <a:rPr lang="zh-CN" sz="1200">
                <a:solidFill>
                  <a:srgbClr val="595959"/>
                </a:solidFill>
                <a:latin typeface="&quot;PingFang SC&quot;"/>
                <a:ea typeface="&quot;PingFang SC&quot;"/>
              </a:rPr>
              <a:t>单笔平均 ¥113.18</a:t>
            </a:r>
          </a:p>
        </p:txBody>
      </p:sp>
      <p:sp>
        <p:nvSpPr>
          <p:cNvPr id="12" name="roundRect 4"/>
          <p:cNvSpPr/>
          <p:nvPr/>
        </p:nvSpPr>
        <p:spPr>
          <a:xfrm>
            <a:off x="1016000" y="3911600"/>
            <a:ext cx="4927600" cy="2133600"/>
          </a:xfrm>
          <a:prstGeom prst="roundRect">
            <a:avLst>
              <a:gd fmla="val 5952" name="adj"/>
            </a:avLst>
          </a:prstGeom>
          <a:solidFill>
            <a:srgbClr val="F7F9FC"/>
          </a:solidFill>
          <a:ln w="12700">
            <a:solidFill>
              <a:srgbClr val="D9E2F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 8"/>
          <p:cNvSpPr/>
          <p:nvPr/>
        </p:nvSpPr>
        <p:spPr>
          <a:xfrm>
            <a:off x="1371600" y="4203700"/>
            <a:ext cx="711200" cy="1778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5000"/>
              </a:lnSpc>
            </a:pPr>
            <a:r>
              <a:rPr lang="zh-CN" sz="1200">
                <a:solidFill>
                  <a:srgbClr val="808080"/>
                </a:solidFill>
                <a:latin typeface="&quot;PingFang SC&quot;"/>
                <a:ea typeface="&quot;PingFang SC&quot;"/>
              </a:rPr>
              <a:t>日均支出</a:t>
            </a:r>
          </a:p>
        </p:txBody>
      </p:sp>
      <p:sp>
        <p:nvSpPr>
          <p:cNvPr id="14" name="rect 9"/>
          <p:cNvSpPr/>
          <p:nvPr/>
        </p:nvSpPr>
        <p:spPr>
          <a:xfrm>
            <a:off x="1371600" y="4826000"/>
            <a:ext cx="1117600" cy="457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6000"/>
              </a:lnSpc>
            </a:pPr>
            <a:r>
              <a:rPr lang="en-US" sz="3000" b="1">
                <a:solidFill>
                  <a:srgbClr val="1F4E79"/>
                </a:solidFill>
                <a:latin typeface="&quot;PingFang SC&quot;"/>
                <a:ea typeface="&quot;Hiragino Sans GB&quot;"/>
              </a:rPr>
              <a:t>¥40.4</a:t>
            </a:r>
          </a:p>
        </p:txBody>
      </p:sp>
      <p:sp>
        <p:nvSpPr>
          <p:cNvPr id="15" name="rect 10"/>
          <p:cNvSpPr/>
          <p:nvPr/>
        </p:nvSpPr>
        <p:spPr>
          <a:xfrm>
            <a:off x="1371600" y="5524500"/>
            <a:ext cx="1295400" cy="1778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5000"/>
              </a:lnSpc>
            </a:pPr>
            <a:r>
              <a:rPr lang="zh-CN" sz="1200">
                <a:solidFill>
                  <a:srgbClr val="595959"/>
                </a:solidFill>
                <a:latin typeface="&quot;PingFang SC&quot;"/>
                <a:ea typeface="&quot;PingFang SC&quot;"/>
              </a:rPr>
              <a:t>按 28 天统计口径</a:t>
            </a:r>
          </a:p>
        </p:txBody>
      </p:sp>
      <p:sp>
        <p:nvSpPr>
          <p:cNvPr id="16" name="roundRect 5"/>
          <p:cNvSpPr/>
          <p:nvPr/>
        </p:nvSpPr>
        <p:spPr>
          <a:xfrm>
            <a:off x="6248400" y="3911600"/>
            <a:ext cx="4927600" cy="2133600"/>
          </a:xfrm>
          <a:prstGeom prst="roundRect">
            <a:avLst>
              <a:gd fmla="val 5952" name="adj"/>
            </a:avLst>
          </a:prstGeom>
          <a:solidFill>
            <a:srgbClr val="F7F9FC"/>
          </a:solidFill>
          <a:ln w="12700">
            <a:solidFill>
              <a:srgbClr val="D9E2F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 11"/>
          <p:cNvSpPr/>
          <p:nvPr/>
        </p:nvSpPr>
        <p:spPr>
          <a:xfrm>
            <a:off x="6604000" y="4203700"/>
            <a:ext cx="1016000" cy="1778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5000"/>
              </a:lnSpc>
            </a:pPr>
            <a:r>
              <a:rPr lang="zh-CN" sz="1200">
                <a:solidFill>
                  <a:srgbClr val="808080"/>
                </a:solidFill>
                <a:latin typeface="&quot;PingFang SC&quot;"/>
                <a:ea typeface="&quot;PingFang SC&quot;"/>
              </a:rPr>
              <a:t>最大支出分类</a:t>
            </a:r>
          </a:p>
        </p:txBody>
      </p:sp>
      <p:sp>
        <p:nvSpPr>
          <p:cNvPr id="18" name="rect 12"/>
          <p:cNvSpPr/>
          <p:nvPr/>
        </p:nvSpPr>
        <p:spPr>
          <a:xfrm>
            <a:off x="6604000" y="4826000"/>
            <a:ext cx="863600" cy="457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6000"/>
              </a:lnSpc>
            </a:pPr>
            <a:r>
              <a:rPr lang="zh-CN" sz="3000" b="1">
                <a:solidFill>
                  <a:srgbClr val="ED7D31"/>
                </a:solidFill>
                <a:latin typeface="&quot;PingFang SC&quot;"/>
                <a:ea typeface="&quot;PingFang SC&quot;"/>
              </a:rPr>
              <a:t>购物</a:t>
            </a:r>
          </a:p>
        </p:txBody>
      </p:sp>
      <p:sp>
        <p:nvSpPr>
          <p:cNvPr id="19" name="rect 13"/>
          <p:cNvSpPr/>
          <p:nvPr/>
        </p:nvSpPr>
        <p:spPr>
          <a:xfrm>
            <a:off x="6604000" y="5524500"/>
            <a:ext cx="1689100" cy="1778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5000"/>
              </a:lnSpc>
            </a:pPr>
            <a:r>
              <a:rPr lang="zh-CN" sz="1200">
                <a:solidFill>
                  <a:srgbClr val="595959"/>
                </a:solidFill>
                <a:latin typeface="&quot;PingFang SC&quot;"/>
                <a:ea typeface="&quot;PingFang SC&quot;"/>
              </a:rPr>
              <a:t>¥458.90 · 占比 40.5%</a:t>
            </a:r>
          </a:p>
        </p:txBody>
      </p:sp>
      <p:sp>
        <p:nvSpPr>
          <p:cNvPr id="20" name="rect 14"/>
          <p:cNvSpPr/>
          <p:nvPr/>
        </p:nvSpPr>
        <p:spPr>
          <a:xfrm>
            <a:off x="1016000" y="6553200"/>
            <a:ext cx="10160000" cy="12700"/>
          </a:xfrm>
          <a:prstGeom prst="rect">
            <a:avLst/>
          </a:prstGeom>
          <a:solidFill>
            <a:srgbClr val="D9E2F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 15"/>
          <p:cNvSpPr/>
          <p:nvPr/>
        </p:nvSpPr>
        <p:spPr>
          <a:xfrm>
            <a:off x="1016000" y="6565900"/>
            <a:ext cx="2603500" cy="1397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68000"/>
              </a:lnSpc>
            </a:pPr>
            <a:r>
              <a:rPr lang="zh-CN" sz="900">
                <a:solidFill>
                  <a:srgbClr val="808080"/>
                </a:solidFill>
                <a:latin typeface="&quot;PingFang SC&quot;"/>
                <a:ea typeface="&quot;PingFang SC&quot;"/>
              </a:rPr>
              <a:t>2026年8月支出报告 · 数据源自《月度支出表》</a:t>
            </a:r>
          </a:p>
        </p:txBody>
      </p:sp>
      <p:sp>
        <p:nvSpPr>
          <p:cNvPr id="22" name="rect 16"/>
          <p:cNvSpPr/>
          <p:nvPr/>
        </p:nvSpPr>
        <p:spPr>
          <a:xfrm>
            <a:off x="10807700" y="6565900"/>
            <a:ext cx="368300" cy="1397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r">
              <a:lnSpc>
                <a:spcPct val="68000"/>
              </a:lnSpc>
            </a:pPr>
            <a:r>
              <a:rPr lang="en-US" sz="900">
                <a:solidFill>
                  <a:srgbClr val="808080"/>
                </a:solidFill>
                <a:latin typeface="&quot;PingFang SC&quot;"/>
                <a:ea typeface="&quot;Hiragino Sans GB&quot;"/>
              </a:rPr>
              <a:t>2 /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1"/>
          <p:cNvSpPr/>
          <p:nvPr/>
        </p:nvSpPr>
        <p:spPr>
          <a:xfrm>
            <a:off x="1016000" y="355600"/>
            <a:ext cx="1422400" cy="3937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4000"/>
              </a:lnSpc>
            </a:pPr>
            <a:r>
              <a:rPr lang="zh-CN" sz="2600" b="1">
                <a:solidFill>
                  <a:srgbClr val="1F4E79"/>
                </a:solidFill>
                <a:latin typeface="&quot;PingFang SC&quot;"/>
                <a:ea typeface="&quot;PingFang SC&quot;"/>
              </a:rPr>
              <a:t>支出明细</a:t>
            </a:r>
          </a:p>
        </p:txBody>
      </p:sp>
      <p:sp>
        <p:nvSpPr>
          <p:cNvPr id="3" name="roundRect 1"/>
          <p:cNvSpPr/>
          <p:nvPr/>
        </p:nvSpPr>
        <p:spPr>
          <a:xfrm>
            <a:off x="1066800" y="838200"/>
            <a:ext cx="685800" cy="63500"/>
          </a:xfrm>
          <a:prstGeom prst="roundRect">
            <a:avLst>
              <a:gd fmla="val 50000" name="adj"/>
            </a:avLst>
          </a:prstGeom>
          <a:solidFill>
            <a:srgbClr val="ED7D3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 2"/>
          <p:cNvSpPr/>
          <p:nvPr/>
        </p:nvSpPr>
        <p:spPr>
          <a:xfrm>
            <a:off x="9702800" y="546100"/>
            <a:ext cx="1473200" cy="1778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r">
              <a:lnSpc>
                <a:spcPct val="85000"/>
              </a:lnSpc>
            </a:pPr>
            <a:r>
              <a:rPr lang="zh-CN" sz="1200">
                <a:solidFill>
                  <a:srgbClr val="808080"/>
                </a:solidFill>
                <a:latin typeface="&quot;PingFang SC&quot;"/>
                <a:ea typeface="&quot;PingFang SC&quot;"/>
              </a:rPr>
              <a:t>金额单位：人民币元</a:t>
            </a:r>
          </a:p>
        </p:txBody>
      </p:sp>
      <p:sp>
        <p:nvSpPr>
          <p:cNvPr id="5" name="rect 3"/>
          <p:cNvSpPr/>
          <p:nvPr/>
        </p:nvSpPr>
        <p:spPr>
          <a:xfrm>
            <a:off x="1016000" y="1498600"/>
            <a:ext cx="10160000" cy="5080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 4"/>
          <p:cNvSpPr/>
          <p:nvPr/>
        </p:nvSpPr>
        <p:spPr>
          <a:xfrm>
            <a:off x="1816100" y="1651000"/>
            <a:ext cx="431800" cy="203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87000"/>
              </a:lnSpc>
            </a:pPr>
            <a:r>
              <a:rPr lang="zh-CN" sz="1300" b="1">
                <a:solidFill>
                  <a:srgbClr val="FFFFFF"/>
                </a:solidFill>
                <a:latin typeface="&quot;PingFang SC&quot;"/>
                <a:ea typeface="&quot;PingFang SC&quot;"/>
              </a:rPr>
              <a:t>日期</a:t>
            </a:r>
          </a:p>
        </p:txBody>
      </p:sp>
      <p:sp>
        <p:nvSpPr>
          <p:cNvPr id="7" name="rect 5"/>
          <p:cNvSpPr/>
          <p:nvPr/>
        </p:nvSpPr>
        <p:spPr>
          <a:xfrm>
            <a:off x="3200400" y="1651000"/>
            <a:ext cx="431800" cy="203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7000"/>
              </a:lnSpc>
            </a:pPr>
            <a:r>
              <a:rPr lang="zh-CN" sz="1300" b="1">
                <a:solidFill>
                  <a:srgbClr val="FFFFFF"/>
                </a:solidFill>
                <a:latin typeface="&quot;PingFang SC&quot;"/>
                <a:ea typeface="&quot;PingFang SC&quot;"/>
              </a:rPr>
              <a:t>分类</a:t>
            </a:r>
          </a:p>
        </p:txBody>
      </p:sp>
      <p:sp>
        <p:nvSpPr>
          <p:cNvPr id="8" name="rect 6"/>
          <p:cNvSpPr/>
          <p:nvPr/>
        </p:nvSpPr>
        <p:spPr>
          <a:xfrm>
            <a:off x="9893300" y="1651000"/>
            <a:ext cx="927100" cy="203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r">
              <a:lnSpc>
                <a:spcPct val="87000"/>
              </a:lnSpc>
            </a:pPr>
            <a:r>
              <a:rPr lang="zh-CN" sz="1300" b="1">
                <a:solidFill>
                  <a:srgbClr val="FFFFFF"/>
                </a:solidFill>
                <a:latin typeface="&quot;PingFang SC&quot;"/>
                <a:ea typeface="&quot;PingFang SC&quot;"/>
              </a:rPr>
              <a:t>金额（元）</a:t>
            </a:r>
          </a:p>
        </p:txBody>
      </p:sp>
      <p:sp>
        <p:nvSpPr>
          <p:cNvPr id="9" name="rect 7"/>
          <p:cNvSpPr/>
          <p:nvPr/>
        </p:nvSpPr>
        <p:spPr>
          <a:xfrm>
            <a:off x="1016000" y="2006600"/>
            <a:ext cx="10160000" cy="3937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 8"/>
          <p:cNvSpPr/>
          <p:nvPr/>
        </p:nvSpPr>
        <p:spPr>
          <a:xfrm>
            <a:off x="1498600" y="2108200"/>
            <a:ext cx="1066800" cy="203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87000"/>
              </a:lnSpc>
            </a:pPr>
            <a:r>
              <a:rPr lang="en-US" sz="1300">
                <a:solidFill>
                  <a:srgbClr val="333333"/>
                </a:solidFill>
                <a:latin typeface="&quot;PingFang SC&quot;"/>
                <a:ea typeface="&quot;Hiragino Sans GB&quot;"/>
              </a:rPr>
              <a:t>2026-08-01</a:t>
            </a:r>
          </a:p>
        </p:txBody>
      </p:sp>
      <p:sp>
        <p:nvSpPr>
          <p:cNvPr id="11" name="rect 9"/>
          <p:cNvSpPr/>
          <p:nvPr/>
        </p:nvSpPr>
        <p:spPr>
          <a:xfrm>
            <a:off x="3200400" y="2108200"/>
            <a:ext cx="431800" cy="203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7000"/>
              </a:lnSpc>
            </a:pPr>
            <a:r>
              <a:rPr lang="zh-CN" sz="1300">
                <a:solidFill>
                  <a:srgbClr val="333333"/>
                </a:solidFill>
                <a:latin typeface="&quot;PingFang SC&quot;"/>
                <a:ea typeface="&quot;PingFang SC&quot;"/>
              </a:rPr>
              <a:t>餐饮</a:t>
            </a:r>
          </a:p>
        </p:txBody>
      </p:sp>
      <p:sp>
        <p:nvSpPr>
          <p:cNvPr id="12" name="rect 10"/>
          <p:cNvSpPr/>
          <p:nvPr/>
        </p:nvSpPr>
        <p:spPr>
          <a:xfrm>
            <a:off x="10172700" y="2108200"/>
            <a:ext cx="647700" cy="203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r">
              <a:lnSpc>
                <a:spcPct val="87000"/>
              </a:lnSpc>
            </a:pPr>
            <a:r>
              <a:rPr lang="en-US" sz="1300">
                <a:solidFill>
                  <a:srgbClr val="333333"/>
                </a:solidFill>
                <a:latin typeface="&quot;PingFang SC&quot;"/>
                <a:ea typeface="&quot;Hiragino Sans GB&quot;"/>
              </a:rPr>
              <a:t>¥86.50</a:t>
            </a:r>
          </a:p>
        </p:txBody>
      </p:sp>
      <p:sp>
        <p:nvSpPr>
          <p:cNvPr id="13" name="rect 11"/>
          <p:cNvSpPr/>
          <p:nvPr/>
        </p:nvSpPr>
        <p:spPr>
          <a:xfrm>
            <a:off x="1485900" y="2501900"/>
            <a:ext cx="1092200" cy="203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87000"/>
              </a:lnSpc>
            </a:pPr>
            <a:r>
              <a:rPr lang="en-US" sz="1300">
                <a:solidFill>
                  <a:srgbClr val="333333"/>
                </a:solidFill>
                <a:latin typeface="&quot;PingFang SC&quot;"/>
                <a:ea typeface="&quot;Hiragino Sans GB&quot;"/>
              </a:rPr>
              <a:t>2026-08-02</a:t>
            </a:r>
          </a:p>
        </p:txBody>
      </p:sp>
      <p:sp>
        <p:nvSpPr>
          <p:cNvPr id="14" name="rect 12"/>
          <p:cNvSpPr/>
          <p:nvPr/>
        </p:nvSpPr>
        <p:spPr>
          <a:xfrm>
            <a:off x="3200400" y="2501900"/>
            <a:ext cx="431800" cy="203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7000"/>
              </a:lnSpc>
            </a:pPr>
            <a:r>
              <a:rPr lang="zh-CN" sz="1300">
                <a:solidFill>
                  <a:srgbClr val="333333"/>
                </a:solidFill>
                <a:latin typeface="&quot;PingFang SC&quot;"/>
                <a:ea typeface="&quot;PingFang SC&quot;"/>
              </a:rPr>
              <a:t>交通</a:t>
            </a:r>
          </a:p>
        </p:txBody>
      </p:sp>
      <p:sp>
        <p:nvSpPr>
          <p:cNvPr id="15" name="rect 13"/>
          <p:cNvSpPr/>
          <p:nvPr/>
        </p:nvSpPr>
        <p:spPr>
          <a:xfrm>
            <a:off x="10172700" y="2501900"/>
            <a:ext cx="647700" cy="203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r">
              <a:lnSpc>
                <a:spcPct val="87000"/>
              </a:lnSpc>
            </a:pPr>
            <a:r>
              <a:rPr lang="en-US" sz="1300">
                <a:solidFill>
                  <a:srgbClr val="333333"/>
                </a:solidFill>
                <a:latin typeface="&quot;PingFang SC&quot;"/>
                <a:ea typeface="&quot;Hiragino Sans GB&quot;"/>
              </a:rPr>
              <a:t>¥35.00</a:t>
            </a:r>
          </a:p>
        </p:txBody>
      </p:sp>
      <p:sp>
        <p:nvSpPr>
          <p:cNvPr id="16" name="rect 14"/>
          <p:cNvSpPr/>
          <p:nvPr/>
        </p:nvSpPr>
        <p:spPr>
          <a:xfrm>
            <a:off x="1016000" y="2794000"/>
            <a:ext cx="10160000" cy="3937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 15"/>
          <p:cNvSpPr/>
          <p:nvPr/>
        </p:nvSpPr>
        <p:spPr>
          <a:xfrm>
            <a:off x="1485900" y="2895600"/>
            <a:ext cx="1092200" cy="203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87000"/>
              </a:lnSpc>
            </a:pPr>
            <a:r>
              <a:rPr lang="en-US" sz="1300">
                <a:solidFill>
                  <a:srgbClr val="333333"/>
                </a:solidFill>
                <a:latin typeface="&quot;PingFang SC&quot;"/>
                <a:ea typeface="&quot;Hiragino Sans GB&quot;"/>
              </a:rPr>
              <a:t>2026-08-05</a:t>
            </a:r>
          </a:p>
        </p:txBody>
      </p:sp>
      <p:sp>
        <p:nvSpPr>
          <p:cNvPr id="18" name="rect 16"/>
          <p:cNvSpPr/>
          <p:nvPr/>
        </p:nvSpPr>
        <p:spPr>
          <a:xfrm>
            <a:off x="3200400" y="2895600"/>
            <a:ext cx="431800" cy="203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7000"/>
              </a:lnSpc>
            </a:pPr>
            <a:r>
              <a:rPr lang="zh-CN" sz="1300">
                <a:solidFill>
                  <a:srgbClr val="333333"/>
                </a:solidFill>
                <a:latin typeface="&quot;PingFang SC&quot;"/>
                <a:ea typeface="&quot;PingFang SC&quot;"/>
              </a:rPr>
              <a:t>购物</a:t>
            </a:r>
          </a:p>
        </p:txBody>
      </p:sp>
      <p:sp>
        <p:nvSpPr>
          <p:cNvPr id="19" name="rect 17"/>
          <p:cNvSpPr/>
          <p:nvPr/>
        </p:nvSpPr>
        <p:spPr>
          <a:xfrm>
            <a:off x="10083800" y="2895600"/>
            <a:ext cx="736600" cy="203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r">
              <a:lnSpc>
                <a:spcPct val="87000"/>
              </a:lnSpc>
            </a:pPr>
            <a:r>
              <a:rPr lang="en-US" sz="1300">
                <a:solidFill>
                  <a:srgbClr val="333333"/>
                </a:solidFill>
                <a:latin typeface="&quot;PingFang SC&quot;"/>
                <a:ea typeface="&quot;Hiragino Sans GB&quot;"/>
              </a:rPr>
              <a:t>¥259.00</a:t>
            </a:r>
          </a:p>
        </p:txBody>
      </p:sp>
      <p:sp>
        <p:nvSpPr>
          <p:cNvPr id="20" name="rect 18"/>
          <p:cNvSpPr/>
          <p:nvPr/>
        </p:nvSpPr>
        <p:spPr>
          <a:xfrm>
            <a:off x="1485900" y="3289300"/>
            <a:ext cx="1092200" cy="203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87000"/>
              </a:lnSpc>
            </a:pPr>
            <a:r>
              <a:rPr lang="en-US" sz="1300">
                <a:solidFill>
                  <a:srgbClr val="333333"/>
                </a:solidFill>
                <a:latin typeface="&quot;PingFang SC&quot;"/>
                <a:ea typeface="&quot;Hiragino Sans GB&quot;"/>
              </a:rPr>
              <a:t>2026-08-08</a:t>
            </a:r>
          </a:p>
        </p:txBody>
      </p:sp>
      <p:sp>
        <p:nvSpPr>
          <p:cNvPr id="21" name="rect 19"/>
          <p:cNvSpPr/>
          <p:nvPr/>
        </p:nvSpPr>
        <p:spPr>
          <a:xfrm>
            <a:off x="3200400" y="3289300"/>
            <a:ext cx="431800" cy="203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7000"/>
              </a:lnSpc>
            </a:pPr>
            <a:r>
              <a:rPr lang="zh-CN" sz="1300">
                <a:solidFill>
                  <a:srgbClr val="333333"/>
                </a:solidFill>
                <a:latin typeface="&quot;PingFang SC&quot;"/>
                <a:ea typeface="&quot;PingFang SC&quot;"/>
              </a:rPr>
              <a:t>餐饮</a:t>
            </a:r>
          </a:p>
        </p:txBody>
      </p:sp>
      <p:sp>
        <p:nvSpPr>
          <p:cNvPr id="22" name="rect 20"/>
          <p:cNvSpPr/>
          <p:nvPr/>
        </p:nvSpPr>
        <p:spPr>
          <a:xfrm>
            <a:off x="10172700" y="3289300"/>
            <a:ext cx="647700" cy="203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r">
              <a:lnSpc>
                <a:spcPct val="87000"/>
              </a:lnSpc>
            </a:pPr>
            <a:r>
              <a:rPr lang="en-US" sz="1300">
                <a:solidFill>
                  <a:srgbClr val="333333"/>
                </a:solidFill>
                <a:latin typeface="&quot;PingFang SC&quot;"/>
                <a:ea typeface="&quot;Hiragino Sans GB&quot;"/>
              </a:rPr>
              <a:t>¥68.00</a:t>
            </a:r>
          </a:p>
        </p:txBody>
      </p:sp>
      <p:sp>
        <p:nvSpPr>
          <p:cNvPr id="23" name="rect 21"/>
          <p:cNvSpPr/>
          <p:nvPr/>
        </p:nvSpPr>
        <p:spPr>
          <a:xfrm>
            <a:off x="1016000" y="3581400"/>
            <a:ext cx="10160000" cy="3937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 22"/>
          <p:cNvSpPr/>
          <p:nvPr/>
        </p:nvSpPr>
        <p:spPr>
          <a:xfrm>
            <a:off x="1498600" y="3683000"/>
            <a:ext cx="1066800" cy="203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87000"/>
              </a:lnSpc>
            </a:pPr>
            <a:r>
              <a:rPr lang="en-US" sz="1300">
                <a:solidFill>
                  <a:srgbClr val="333333"/>
                </a:solidFill>
                <a:latin typeface="&quot;PingFang SC&quot;"/>
                <a:ea typeface="&quot;Hiragino Sans GB&quot;"/>
              </a:rPr>
              <a:t>2026-08-10</a:t>
            </a:r>
          </a:p>
        </p:txBody>
      </p:sp>
      <p:sp>
        <p:nvSpPr>
          <p:cNvPr id="25" name="rect 23"/>
          <p:cNvSpPr/>
          <p:nvPr/>
        </p:nvSpPr>
        <p:spPr>
          <a:xfrm>
            <a:off x="3200400" y="3683000"/>
            <a:ext cx="431800" cy="203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7000"/>
              </a:lnSpc>
            </a:pPr>
            <a:r>
              <a:rPr lang="zh-CN" sz="1300">
                <a:solidFill>
                  <a:srgbClr val="333333"/>
                </a:solidFill>
                <a:latin typeface="&quot;PingFang SC&quot;"/>
                <a:ea typeface="&quot;PingFang SC&quot;"/>
              </a:rPr>
              <a:t>娱乐</a:t>
            </a:r>
          </a:p>
        </p:txBody>
      </p:sp>
      <p:sp>
        <p:nvSpPr>
          <p:cNvPr id="26" name="rect 24"/>
          <p:cNvSpPr/>
          <p:nvPr/>
        </p:nvSpPr>
        <p:spPr>
          <a:xfrm>
            <a:off x="10172700" y="3683000"/>
            <a:ext cx="647700" cy="203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r">
              <a:lnSpc>
                <a:spcPct val="87000"/>
              </a:lnSpc>
            </a:pPr>
            <a:r>
              <a:rPr lang="en-US" sz="1300">
                <a:solidFill>
                  <a:srgbClr val="333333"/>
                </a:solidFill>
                <a:latin typeface="&quot;PingFang SC&quot;"/>
                <a:ea typeface="&quot;Hiragino Sans GB&quot;"/>
              </a:rPr>
              <a:t>¥88.00</a:t>
            </a:r>
          </a:p>
        </p:txBody>
      </p:sp>
      <p:sp>
        <p:nvSpPr>
          <p:cNvPr id="27" name="rect 25"/>
          <p:cNvSpPr/>
          <p:nvPr/>
        </p:nvSpPr>
        <p:spPr>
          <a:xfrm>
            <a:off x="1498600" y="4076700"/>
            <a:ext cx="1066800" cy="203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87000"/>
              </a:lnSpc>
            </a:pPr>
            <a:r>
              <a:rPr lang="en-US" sz="1300">
                <a:solidFill>
                  <a:srgbClr val="333333"/>
                </a:solidFill>
                <a:latin typeface="&quot;PingFang SC&quot;"/>
                <a:ea typeface="&quot;Hiragino Sans GB&quot;"/>
              </a:rPr>
              <a:t>2026-08-15</a:t>
            </a:r>
          </a:p>
        </p:txBody>
      </p:sp>
      <p:sp>
        <p:nvSpPr>
          <p:cNvPr id="28" name="rect 26"/>
          <p:cNvSpPr/>
          <p:nvPr/>
        </p:nvSpPr>
        <p:spPr>
          <a:xfrm>
            <a:off x="3200400" y="4076700"/>
            <a:ext cx="762000" cy="203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7000"/>
              </a:lnSpc>
            </a:pPr>
            <a:r>
              <a:rPr lang="zh-CN" sz="1300">
                <a:solidFill>
                  <a:srgbClr val="333333"/>
                </a:solidFill>
                <a:latin typeface="&quot;PingFang SC&quot;"/>
                <a:ea typeface="&quot;PingFang SC&quot;"/>
              </a:rPr>
              <a:t>水电燃气</a:t>
            </a:r>
          </a:p>
        </p:txBody>
      </p:sp>
      <p:sp>
        <p:nvSpPr>
          <p:cNvPr id="29" name="rect 27"/>
          <p:cNvSpPr/>
          <p:nvPr/>
        </p:nvSpPr>
        <p:spPr>
          <a:xfrm>
            <a:off x="10109200" y="4076700"/>
            <a:ext cx="711200" cy="203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r">
              <a:lnSpc>
                <a:spcPct val="87000"/>
              </a:lnSpc>
            </a:pPr>
            <a:r>
              <a:rPr lang="en-US" sz="1300">
                <a:solidFill>
                  <a:srgbClr val="333333"/>
                </a:solidFill>
                <a:latin typeface="&quot;PingFang SC&quot;"/>
                <a:ea typeface="&quot;Hiragino Sans GB&quot;"/>
              </a:rPr>
              <a:t>¥156.40</a:t>
            </a:r>
          </a:p>
        </p:txBody>
      </p:sp>
      <p:sp>
        <p:nvSpPr>
          <p:cNvPr id="30" name="rect 28"/>
          <p:cNvSpPr/>
          <p:nvPr/>
        </p:nvSpPr>
        <p:spPr>
          <a:xfrm>
            <a:off x="1016000" y="4368800"/>
            <a:ext cx="10160000" cy="3937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1" name="rect 29"/>
          <p:cNvSpPr/>
          <p:nvPr/>
        </p:nvSpPr>
        <p:spPr>
          <a:xfrm>
            <a:off x="1498600" y="4470400"/>
            <a:ext cx="1066800" cy="203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87000"/>
              </a:lnSpc>
            </a:pPr>
            <a:r>
              <a:rPr lang="en-US" sz="1300">
                <a:solidFill>
                  <a:srgbClr val="333333"/>
                </a:solidFill>
                <a:latin typeface="&quot;PingFang SC&quot;"/>
                <a:ea typeface="&quot;Hiragino Sans GB&quot;"/>
              </a:rPr>
              <a:t>2026-08-18</a:t>
            </a:r>
          </a:p>
        </p:txBody>
      </p:sp>
      <p:sp>
        <p:nvSpPr>
          <p:cNvPr id="32" name="rect 30"/>
          <p:cNvSpPr/>
          <p:nvPr/>
        </p:nvSpPr>
        <p:spPr>
          <a:xfrm>
            <a:off x="3200400" y="4470400"/>
            <a:ext cx="431800" cy="203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7000"/>
              </a:lnSpc>
            </a:pPr>
            <a:r>
              <a:rPr lang="zh-CN" sz="1300">
                <a:solidFill>
                  <a:srgbClr val="333333"/>
                </a:solidFill>
                <a:latin typeface="&quot;PingFang SC&quot;"/>
                <a:ea typeface="&quot;PingFang SC&quot;"/>
              </a:rPr>
              <a:t>交通</a:t>
            </a:r>
          </a:p>
        </p:txBody>
      </p:sp>
      <p:sp>
        <p:nvSpPr>
          <p:cNvPr id="33" name="rect 31"/>
          <p:cNvSpPr/>
          <p:nvPr/>
        </p:nvSpPr>
        <p:spPr>
          <a:xfrm>
            <a:off x="10172700" y="4470400"/>
            <a:ext cx="647700" cy="203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r">
              <a:lnSpc>
                <a:spcPct val="87000"/>
              </a:lnSpc>
            </a:pPr>
            <a:r>
              <a:rPr lang="en-US" sz="1300">
                <a:solidFill>
                  <a:srgbClr val="333333"/>
                </a:solidFill>
                <a:latin typeface="&quot;PingFang SC&quot;"/>
                <a:ea typeface="&quot;Hiragino Sans GB&quot;"/>
              </a:rPr>
              <a:t>¥42.00</a:t>
            </a:r>
          </a:p>
        </p:txBody>
      </p:sp>
      <p:sp>
        <p:nvSpPr>
          <p:cNvPr id="34" name="rect 32"/>
          <p:cNvSpPr/>
          <p:nvPr/>
        </p:nvSpPr>
        <p:spPr>
          <a:xfrm>
            <a:off x="1485900" y="4864100"/>
            <a:ext cx="1092200" cy="203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87000"/>
              </a:lnSpc>
            </a:pPr>
            <a:r>
              <a:rPr lang="en-US" sz="1300">
                <a:solidFill>
                  <a:srgbClr val="333333"/>
                </a:solidFill>
                <a:latin typeface="&quot;PingFang SC&quot;"/>
                <a:ea typeface="&quot;Hiragino Sans GB&quot;"/>
              </a:rPr>
              <a:t>2026-08-22</a:t>
            </a:r>
          </a:p>
        </p:txBody>
      </p:sp>
      <p:sp>
        <p:nvSpPr>
          <p:cNvPr id="35" name="rect 33"/>
          <p:cNvSpPr/>
          <p:nvPr/>
        </p:nvSpPr>
        <p:spPr>
          <a:xfrm>
            <a:off x="3200400" y="4864100"/>
            <a:ext cx="431800" cy="203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7000"/>
              </a:lnSpc>
            </a:pPr>
            <a:r>
              <a:rPr lang="zh-CN" sz="1300">
                <a:solidFill>
                  <a:srgbClr val="333333"/>
                </a:solidFill>
                <a:latin typeface="&quot;PingFang SC&quot;"/>
                <a:ea typeface="&quot;PingFang SC&quot;"/>
              </a:rPr>
              <a:t>餐饮</a:t>
            </a:r>
          </a:p>
        </p:txBody>
      </p:sp>
      <p:sp>
        <p:nvSpPr>
          <p:cNvPr id="36" name="rect 34"/>
          <p:cNvSpPr/>
          <p:nvPr/>
        </p:nvSpPr>
        <p:spPr>
          <a:xfrm>
            <a:off x="10109200" y="4864100"/>
            <a:ext cx="711200" cy="203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r">
              <a:lnSpc>
                <a:spcPct val="87000"/>
              </a:lnSpc>
            </a:pPr>
            <a:r>
              <a:rPr lang="en-US" sz="1300">
                <a:solidFill>
                  <a:srgbClr val="333333"/>
                </a:solidFill>
                <a:latin typeface="&quot;PingFang SC&quot;"/>
                <a:ea typeface="&quot;Hiragino Sans GB&quot;"/>
              </a:rPr>
              <a:t>¥122.00</a:t>
            </a:r>
          </a:p>
        </p:txBody>
      </p:sp>
      <p:sp>
        <p:nvSpPr>
          <p:cNvPr id="37" name="rect 35"/>
          <p:cNvSpPr/>
          <p:nvPr/>
        </p:nvSpPr>
        <p:spPr>
          <a:xfrm>
            <a:off x="1016000" y="5156200"/>
            <a:ext cx="10160000" cy="3937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8" name="rect 36"/>
          <p:cNvSpPr/>
          <p:nvPr/>
        </p:nvSpPr>
        <p:spPr>
          <a:xfrm>
            <a:off x="1485900" y="5257800"/>
            <a:ext cx="1092200" cy="203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87000"/>
              </a:lnSpc>
            </a:pPr>
            <a:r>
              <a:rPr lang="en-US" sz="1300">
                <a:solidFill>
                  <a:srgbClr val="333333"/>
                </a:solidFill>
                <a:latin typeface="&quot;PingFang SC&quot;"/>
                <a:ea typeface="&quot;Hiragino Sans GB&quot;"/>
              </a:rPr>
              <a:t>2026-08-25</a:t>
            </a:r>
          </a:p>
        </p:txBody>
      </p:sp>
      <p:sp>
        <p:nvSpPr>
          <p:cNvPr id="39" name="rect 37"/>
          <p:cNvSpPr/>
          <p:nvPr/>
        </p:nvSpPr>
        <p:spPr>
          <a:xfrm>
            <a:off x="3200400" y="5257800"/>
            <a:ext cx="431800" cy="203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7000"/>
              </a:lnSpc>
            </a:pPr>
            <a:r>
              <a:rPr lang="zh-CN" sz="1300">
                <a:solidFill>
                  <a:srgbClr val="333333"/>
                </a:solidFill>
                <a:latin typeface="&quot;PingFang SC&quot;"/>
                <a:ea typeface="&quot;PingFang SC&quot;"/>
              </a:rPr>
              <a:t>医疗</a:t>
            </a:r>
          </a:p>
        </p:txBody>
      </p:sp>
      <p:sp>
        <p:nvSpPr>
          <p:cNvPr id="40" name="rect 38"/>
          <p:cNvSpPr/>
          <p:nvPr/>
        </p:nvSpPr>
        <p:spPr>
          <a:xfrm>
            <a:off x="10185400" y="5257800"/>
            <a:ext cx="635000" cy="203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r">
              <a:lnSpc>
                <a:spcPct val="87000"/>
              </a:lnSpc>
            </a:pPr>
            <a:r>
              <a:rPr lang="en-US" sz="1300">
                <a:solidFill>
                  <a:srgbClr val="333333"/>
                </a:solidFill>
                <a:latin typeface="&quot;PingFang SC&quot;"/>
                <a:ea typeface="&quot;Hiragino Sans GB&quot;"/>
              </a:rPr>
              <a:t>¥75.00</a:t>
            </a:r>
          </a:p>
        </p:txBody>
      </p:sp>
      <p:sp>
        <p:nvSpPr>
          <p:cNvPr id="41" name="rect 39"/>
          <p:cNvSpPr/>
          <p:nvPr/>
        </p:nvSpPr>
        <p:spPr>
          <a:xfrm>
            <a:off x="1485900" y="5651500"/>
            <a:ext cx="1092200" cy="203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87000"/>
              </a:lnSpc>
            </a:pPr>
            <a:r>
              <a:rPr lang="en-US" sz="1300">
                <a:solidFill>
                  <a:srgbClr val="333333"/>
                </a:solidFill>
                <a:latin typeface="&quot;PingFang SC&quot;"/>
                <a:ea typeface="&quot;Hiragino Sans GB&quot;"/>
              </a:rPr>
              <a:t>2026-08-28</a:t>
            </a:r>
          </a:p>
        </p:txBody>
      </p:sp>
      <p:sp>
        <p:nvSpPr>
          <p:cNvPr id="42" name="rect 40"/>
          <p:cNvSpPr/>
          <p:nvPr/>
        </p:nvSpPr>
        <p:spPr>
          <a:xfrm>
            <a:off x="3200400" y="5651500"/>
            <a:ext cx="431800" cy="203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7000"/>
              </a:lnSpc>
            </a:pPr>
            <a:r>
              <a:rPr lang="zh-CN" sz="1300">
                <a:solidFill>
                  <a:srgbClr val="333333"/>
                </a:solidFill>
                <a:latin typeface="&quot;PingFang SC&quot;"/>
                <a:ea typeface="&quot;PingFang SC&quot;"/>
              </a:rPr>
              <a:t>购物</a:t>
            </a:r>
          </a:p>
        </p:txBody>
      </p:sp>
      <p:sp>
        <p:nvSpPr>
          <p:cNvPr id="43" name="rect 41"/>
          <p:cNvSpPr/>
          <p:nvPr/>
        </p:nvSpPr>
        <p:spPr>
          <a:xfrm>
            <a:off x="10109200" y="5651500"/>
            <a:ext cx="711200" cy="203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r">
              <a:lnSpc>
                <a:spcPct val="87000"/>
              </a:lnSpc>
            </a:pPr>
            <a:r>
              <a:rPr lang="en-US" sz="1300">
                <a:solidFill>
                  <a:srgbClr val="333333"/>
                </a:solidFill>
                <a:latin typeface="&quot;PingFang SC&quot;"/>
                <a:ea typeface="&quot;Hiragino Sans GB&quot;"/>
              </a:rPr>
              <a:t>¥199.90</a:t>
            </a:r>
          </a:p>
        </p:txBody>
      </p:sp>
      <p:sp>
        <p:nvSpPr>
          <p:cNvPr id="44" name="rect 42"/>
          <p:cNvSpPr/>
          <p:nvPr/>
        </p:nvSpPr>
        <p:spPr>
          <a:xfrm>
            <a:off x="1016000" y="5943600"/>
            <a:ext cx="10160000" cy="5080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5" name="rect 43"/>
          <p:cNvSpPr/>
          <p:nvPr/>
        </p:nvSpPr>
        <p:spPr>
          <a:xfrm>
            <a:off x="1016000" y="5943600"/>
            <a:ext cx="10160000" cy="25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6" name="rect 44"/>
          <p:cNvSpPr/>
          <p:nvPr/>
        </p:nvSpPr>
        <p:spPr>
          <a:xfrm>
            <a:off x="1816100" y="6083300"/>
            <a:ext cx="431800" cy="203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87000"/>
              </a:lnSpc>
            </a:pPr>
            <a:r>
              <a:rPr lang="zh-CN" sz="1300" b="1">
                <a:solidFill>
                  <a:srgbClr val="1F4E79"/>
                </a:solidFill>
                <a:latin typeface="&quot;PingFang SC&quot;"/>
                <a:ea typeface="&quot;PingFang SC&quot;"/>
              </a:rPr>
              <a:t>合计</a:t>
            </a:r>
          </a:p>
        </p:txBody>
      </p:sp>
      <p:sp>
        <p:nvSpPr>
          <p:cNvPr id="47" name="rect 45"/>
          <p:cNvSpPr/>
          <p:nvPr/>
        </p:nvSpPr>
        <p:spPr>
          <a:xfrm>
            <a:off x="10033000" y="6083300"/>
            <a:ext cx="787400" cy="203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r">
              <a:lnSpc>
                <a:spcPct val="87000"/>
              </a:lnSpc>
            </a:pPr>
            <a:r>
              <a:rPr lang="en-US" sz="1300" b="1">
                <a:solidFill>
                  <a:srgbClr val="1F4E79"/>
                </a:solidFill>
                <a:latin typeface="&quot;PingFang SC&quot;"/>
                <a:ea typeface="&quot;Hiragino Sans GB&quot;"/>
              </a:rPr>
              <a:t>¥1,131.80</a:t>
            </a:r>
          </a:p>
        </p:txBody>
      </p:sp>
      <p:sp>
        <p:nvSpPr>
          <p:cNvPr id="48" name="rect 46"/>
          <p:cNvSpPr/>
          <p:nvPr/>
        </p:nvSpPr>
        <p:spPr>
          <a:xfrm>
            <a:off x="1016000" y="6553200"/>
            <a:ext cx="10160000" cy="12700"/>
          </a:xfrm>
          <a:prstGeom prst="rect">
            <a:avLst/>
          </a:prstGeom>
          <a:solidFill>
            <a:srgbClr val="D9E2F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9" name="rect 47"/>
          <p:cNvSpPr/>
          <p:nvPr/>
        </p:nvSpPr>
        <p:spPr>
          <a:xfrm>
            <a:off x="1016000" y="6565900"/>
            <a:ext cx="2603500" cy="1397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68000"/>
              </a:lnSpc>
            </a:pPr>
            <a:r>
              <a:rPr lang="zh-CN" sz="900">
                <a:solidFill>
                  <a:srgbClr val="808080"/>
                </a:solidFill>
                <a:latin typeface="&quot;PingFang SC&quot;"/>
                <a:ea typeface="&quot;PingFang SC&quot;"/>
              </a:rPr>
              <a:t>2026年8月支出报告 · 数据源自《月度支出表》</a:t>
            </a:r>
          </a:p>
        </p:txBody>
      </p:sp>
      <p:sp>
        <p:nvSpPr>
          <p:cNvPr id="50" name="rect 48"/>
          <p:cNvSpPr/>
          <p:nvPr/>
        </p:nvSpPr>
        <p:spPr>
          <a:xfrm>
            <a:off x="10807700" y="6565900"/>
            <a:ext cx="368300" cy="1397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r">
              <a:lnSpc>
                <a:spcPct val="68000"/>
              </a:lnSpc>
            </a:pPr>
            <a:r>
              <a:rPr lang="en-US" sz="900">
                <a:solidFill>
                  <a:srgbClr val="808080"/>
                </a:solidFill>
                <a:latin typeface="&quot;PingFang SC&quot;"/>
                <a:ea typeface="&quot;Hiragino Sans GB&quot;"/>
              </a:rPr>
              <a:t>3 /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1"/>
          <p:cNvSpPr/>
          <p:nvPr/>
        </p:nvSpPr>
        <p:spPr>
          <a:xfrm>
            <a:off x="1016000" y="355600"/>
            <a:ext cx="2082800" cy="3937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4000"/>
              </a:lnSpc>
            </a:pPr>
            <a:r>
              <a:rPr lang="zh-CN" sz="2600" b="1">
                <a:solidFill>
                  <a:srgbClr val="1F4E79"/>
                </a:solidFill>
                <a:latin typeface="&quot;PingFang SC&quot;"/>
                <a:ea typeface="&quot;PingFang SC&quot;"/>
              </a:rPr>
              <a:t>分类支出占比</a:t>
            </a:r>
          </a:p>
        </p:txBody>
      </p:sp>
      <p:sp>
        <p:nvSpPr>
          <p:cNvPr id="3" name="roundRect 1"/>
          <p:cNvSpPr/>
          <p:nvPr/>
        </p:nvSpPr>
        <p:spPr>
          <a:xfrm>
            <a:off x="1066800" y="838200"/>
            <a:ext cx="685800" cy="63500"/>
          </a:xfrm>
          <a:prstGeom prst="roundRect">
            <a:avLst>
              <a:gd fmla="val 50000" name="adj"/>
            </a:avLst>
          </a:prstGeom>
          <a:solidFill>
            <a:srgbClr val="ED7D3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 2"/>
          <p:cNvSpPr/>
          <p:nvPr/>
        </p:nvSpPr>
        <p:spPr>
          <a:xfrm>
            <a:off x="10083800" y="546100"/>
            <a:ext cx="1092200" cy="1778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r">
              <a:lnSpc>
                <a:spcPct val="85000"/>
              </a:lnSpc>
            </a:pPr>
            <a:r>
              <a:rPr lang="zh-CN" sz="1200">
                <a:solidFill>
                  <a:srgbClr val="808080"/>
                </a:solidFill>
                <a:latin typeface="&quot;PingFang SC&quot;"/>
                <a:ea typeface="&quot;PingFang SC&quot;"/>
              </a:rPr>
              <a:t>合计 ¥1,131.80</a:t>
            </a:r>
          </a:p>
        </p:txBody>
      </p:sp>
      <p:sp>
        <p:nvSpPr>
          <p:cNvPr id="5" name="roundRect 2"/>
          <p:cNvSpPr/>
          <p:nvPr/>
        </p:nvSpPr>
        <p:spPr>
          <a:xfrm>
            <a:off x="1117600" y="1727200"/>
            <a:ext cx="177800" cy="177800"/>
          </a:xfrm>
          <a:prstGeom prst="roundRect">
            <a:avLst>
              <a:gd fmla="val 21429" name="adj"/>
            </a:avLst>
          </a:prstGeom>
          <a:solidFill>
            <a:srgbClr val="ED7D3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 3"/>
          <p:cNvSpPr/>
          <p:nvPr/>
        </p:nvSpPr>
        <p:spPr>
          <a:xfrm>
            <a:off x="1422400" y="1790700"/>
            <a:ext cx="457200" cy="2159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4000"/>
              </a:lnSpc>
            </a:pPr>
            <a:r>
              <a:rPr lang="zh-CN" sz="1400" b="1">
                <a:solidFill>
                  <a:srgbClr val="333333"/>
                </a:solidFill>
                <a:latin typeface="&quot;PingFang SC&quot;"/>
                <a:ea typeface="&quot;PingFang SC&quot;"/>
              </a:rPr>
              <a:t>购物</a:t>
            </a:r>
          </a:p>
        </p:txBody>
      </p:sp>
      <p:sp>
        <p:nvSpPr>
          <p:cNvPr id="7" name="rect 4"/>
          <p:cNvSpPr/>
          <p:nvPr/>
        </p:nvSpPr>
        <p:spPr>
          <a:xfrm>
            <a:off x="1422400" y="2070100"/>
            <a:ext cx="647700" cy="1651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78000"/>
              </a:lnSpc>
            </a:pPr>
            <a:r>
              <a:rPr lang="en-US" sz="1100">
                <a:solidFill>
                  <a:srgbClr val="808080"/>
                </a:solidFill>
                <a:latin typeface="&quot;PingFang SC&quot;"/>
                <a:ea typeface="&quot;Hiragino Sans GB&quot;"/>
              </a:rPr>
              <a:t>¥458.90</a:t>
            </a:r>
          </a:p>
        </p:txBody>
      </p:sp>
      <p:sp>
        <p:nvSpPr>
          <p:cNvPr id="8" name="roundRect 3"/>
          <p:cNvSpPr/>
          <p:nvPr/>
        </p:nvSpPr>
        <p:spPr>
          <a:xfrm>
            <a:off x="4191000" y="1841500"/>
            <a:ext cx="6604000" cy="279400"/>
          </a:xfrm>
          <a:prstGeom prst="roundRect">
            <a:avLst>
              <a:gd fmla="val 50000" name="adj"/>
            </a:avLst>
          </a:prstGeom>
          <a:solidFill>
            <a:srgbClr val="F1F5F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" name="roundRect 4"/>
          <p:cNvSpPr/>
          <p:nvPr/>
        </p:nvSpPr>
        <p:spPr>
          <a:xfrm>
            <a:off x="4191000" y="1841500"/>
            <a:ext cx="6604000" cy="279400"/>
          </a:xfrm>
          <a:prstGeom prst="roundRect">
            <a:avLst>
              <a:gd fmla="val 50000" name="adj"/>
            </a:avLst>
          </a:prstGeom>
          <a:solidFill>
            <a:srgbClr val="ED7D3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 5"/>
          <p:cNvSpPr/>
          <p:nvPr/>
        </p:nvSpPr>
        <p:spPr>
          <a:xfrm>
            <a:off x="10947400" y="2057400"/>
            <a:ext cx="571500" cy="1778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5000"/>
              </a:lnSpc>
            </a:pPr>
            <a:r>
              <a:rPr lang="en-US" sz="1200" b="1">
                <a:solidFill>
                  <a:srgbClr val="1F4E79"/>
                </a:solidFill>
                <a:latin typeface="&quot;PingFang SC&quot;"/>
                <a:ea typeface="&quot;Hiragino Sans GB&quot;"/>
              </a:rPr>
              <a:t>40.5%</a:t>
            </a:r>
          </a:p>
        </p:txBody>
      </p:sp>
      <p:sp>
        <p:nvSpPr>
          <p:cNvPr id="11" name="roundRect 5"/>
          <p:cNvSpPr/>
          <p:nvPr/>
        </p:nvSpPr>
        <p:spPr>
          <a:xfrm>
            <a:off x="1117600" y="2438400"/>
            <a:ext cx="177800" cy="177800"/>
          </a:xfrm>
          <a:prstGeom prst="roundRect">
            <a:avLst>
              <a:gd fmla="val 21429" name="adj"/>
            </a:avLst>
          </a:prstGeom>
          <a:solidFill>
            <a:srgbClr val="FFC0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 6"/>
          <p:cNvSpPr/>
          <p:nvPr/>
        </p:nvSpPr>
        <p:spPr>
          <a:xfrm>
            <a:off x="1422400" y="2501900"/>
            <a:ext cx="457200" cy="2159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4000"/>
              </a:lnSpc>
            </a:pPr>
            <a:r>
              <a:rPr lang="zh-CN" sz="1400" b="1">
                <a:solidFill>
                  <a:srgbClr val="333333"/>
                </a:solidFill>
                <a:latin typeface="&quot;PingFang SC&quot;"/>
                <a:ea typeface="&quot;PingFang SC&quot;"/>
              </a:rPr>
              <a:t>餐饮</a:t>
            </a:r>
          </a:p>
        </p:txBody>
      </p:sp>
      <p:sp>
        <p:nvSpPr>
          <p:cNvPr id="13" name="rect 7"/>
          <p:cNvSpPr/>
          <p:nvPr/>
        </p:nvSpPr>
        <p:spPr>
          <a:xfrm>
            <a:off x="1422400" y="2781300"/>
            <a:ext cx="635000" cy="1651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78000"/>
              </a:lnSpc>
            </a:pPr>
            <a:r>
              <a:rPr lang="en-US" sz="1100">
                <a:solidFill>
                  <a:srgbClr val="808080"/>
                </a:solidFill>
                <a:latin typeface="&quot;PingFang SC&quot;"/>
                <a:ea typeface="&quot;Hiragino Sans GB&quot;"/>
              </a:rPr>
              <a:t>¥276.50</a:t>
            </a:r>
          </a:p>
        </p:txBody>
      </p:sp>
      <p:sp>
        <p:nvSpPr>
          <p:cNvPr id="14" name="roundRect 6"/>
          <p:cNvSpPr/>
          <p:nvPr/>
        </p:nvSpPr>
        <p:spPr>
          <a:xfrm>
            <a:off x="4191000" y="2552700"/>
            <a:ext cx="6604000" cy="279400"/>
          </a:xfrm>
          <a:prstGeom prst="roundRect">
            <a:avLst>
              <a:gd fmla="val 50000" name="adj"/>
            </a:avLst>
          </a:prstGeom>
          <a:solidFill>
            <a:srgbClr val="F1F5F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" name="roundRect 7"/>
          <p:cNvSpPr/>
          <p:nvPr/>
        </p:nvSpPr>
        <p:spPr>
          <a:xfrm>
            <a:off x="4191000" y="2552700"/>
            <a:ext cx="3975100" cy="279400"/>
          </a:xfrm>
          <a:prstGeom prst="roundRect">
            <a:avLst>
              <a:gd fmla="val 50000" name="adj"/>
            </a:avLst>
          </a:prstGeom>
          <a:solidFill>
            <a:srgbClr val="FFC0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 8"/>
          <p:cNvSpPr/>
          <p:nvPr/>
        </p:nvSpPr>
        <p:spPr>
          <a:xfrm>
            <a:off x="8318500" y="2768600"/>
            <a:ext cx="571500" cy="1778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5000"/>
              </a:lnSpc>
            </a:pPr>
            <a:r>
              <a:rPr lang="en-US" sz="1200" b="1">
                <a:solidFill>
                  <a:srgbClr val="1F4E79"/>
                </a:solidFill>
                <a:latin typeface="&quot;PingFang SC&quot;"/>
                <a:ea typeface="&quot;Hiragino Sans GB&quot;"/>
              </a:rPr>
              <a:t>24.4%</a:t>
            </a:r>
          </a:p>
        </p:txBody>
      </p:sp>
      <p:sp>
        <p:nvSpPr>
          <p:cNvPr id="17" name="roundRect 8"/>
          <p:cNvSpPr/>
          <p:nvPr/>
        </p:nvSpPr>
        <p:spPr>
          <a:xfrm>
            <a:off x="1117600" y="3149600"/>
            <a:ext cx="177800" cy="177800"/>
          </a:xfrm>
          <a:prstGeom prst="roundRect">
            <a:avLst>
              <a:gd fmla="val 21429" name="adj"/>
            </a:avLst>
          </a:prstGeom>
          <a:solidFill>
            <a:srgbClr val="4472C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 9"/>
          <p:cNvSpPr/>
          <p:nvPr/>
        </p:nvSpPr>
        <p:spPr>
          <a:xfrm>
            <a:off x="1422400" y="3213100"/>
            <a:ext cx="812800" cy="2159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4000"/>
              </a:lnSpc>
            </a:pPr>
            <a:r>
              <a:rPr lang="zh-CN" sz="1400" b="1">
                <a:solidFill>
                  <a:srgbClr val="333333"/>
                </a:solidFill>
                <a:latin typeface="&quot;PingFang SC&quot;"/>
                <a:ea typeface="&quot;PingFang SC&quot;"/>
              </a:rPr>
              <a:t>水电燃气</a:t>
            </a:r>
          </a:p>
        </p:txBody>
      </p:sp>
      <p:sp>
        <p:nvSpPr>
          <p:cNvPr id="19" name="rect 10"/>
          <p:cNvSpPr/>
          <p:nvPr/>
        </p:nvSpPr>
        <p:spPr>
          <a:xfrm>
            <a:off x="1422400" y="3492500"/>
            <a:ext cx="609600" cy="1651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78000"/>
              </a:lnSpc>
            </a:pPr>
            <a:r>
              <a:rPr lang="en-US" sz="1100">
                <a:solidFill>
                  <a:srgbClr val="808080"/>
                </a:solidFill>
                <a:latin typeface="&quot;PingFang SC&quot;"/>
                <a:ea typeface="&quot;Hiragino Sans GB&quot;"/>
              </a:rPr>
              <a:t>¥156.40</a:t>
            </a:r>
          </a:p>
        </p:txBody>
      </p:sp>
      <p:sp>
        <p:nvSpPr>
          <p:cNvPr id="20" name="roundRect 9"/>
          <p:cNvSpPr/>
          <p:nvPr/>
        </p:nvSpPr>
        <p:spPr>
          <a:xfrm>
            <a:off x="4191000" y="3263900"/>
            <a:ext cx="6604000" cy="279400"/>
          </a:xfrm>
          <a:prstGeom prst="roundRect">
            <a:avLst>
              <a:gd fmla="val 50000" name="adj"/>
            </a:avLst>
          </a:prstGeom>
          <a:solidFill>
            <a:srgbClr val="F1F5F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" name="roundRect 10"/>
          <p:cNvSpPr/>
          <p:nvPr/>
        </p:nvSpPr>
        <p:spPr>
          <a:xfrm>
            <a:off x="4191000" y="3263900"/>
            <a:ext cx="2247900" cy="279400"/>
          </a:xfrm>
          <a:prstGeom prst="roundRect">
            <a:avLst>
              <a:gd fmla="val 50000" name="adj"/>
            </a:avLst>
          </a:prstGeom>
          <a:solidFill>
            <a:srgbClr val="4472C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 11"/>
          <p:cNvSpPr/>
          <p:nvPr/>
        </p:nvSpPr>
        <p:spPr>
          <a:xfrm>
            <a:off x="6591300" y="3479800"/>
            <a:ext cx="546100" cy="1778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5000"/>
              </a:lnSpc>
            </a:pPr>
            <a:r>
              <a:rPr lang="en-US" sz="1200" b="1">
                <a:solidFill>
                  <a:srgbClr val="1F4E79"/>
                </a:solidFill>
                <a:latin typeface="&quot;PingFang SC&quot;"/>
                <a:ea typeface="&quot;Hiragino Sans GB&quot;"/>
              </a:rPr>
              <a:t>13.8%</a:t>
            </a:r>
          </a:p>
        </p:txBody>
      </p:sp>
      <p:sp>
        <p:nvSpPr>
          <p:cNvPr id="23" name="roundRect 11"/>
          <p:cNvSpPr/>
          <p:nvPr/>
        </p:nvSpPr>
        <p:spPr>
          <a:xfrm>
            <a:off x="1117600" y="3860800"/>
            <a:ext cx="177800" cy="177800"/>
          </a:xfrm>
          <a:prstGeom prst="roundRect">
            <a:avLst>
              <a:gd fmla="val 21429" name="adj"/>
            </a:avLst>
          </a:prstGeom>
          <a:solidFill>
            <a:srgbClr val="70AD4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 12"/>
          <p:cNvSpPr/>
          <p:nvPr/>
        </p:nvSpPr>
        <p:spPr>
          <a:xfrm>
            <a:off x="1422400" y="3924300"/>
            <a:ext cx="457200" cy="2159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4000"/>
              </a:lnSpc>
            </a:pPr>
            <a:r>
              <a:rPr lang="zh-CN" sz="1400" b="1">
                <a:solidFill>
                  <a:srgbClr val="333333"/>
                </a:solidFill>
                <a:latin typeface="&quot;PingFang SC&quot;"/>
                <a:ea typeface="&quot;PingFang SC&quot;"/>
              </a:rPr>
              <a:t>娱乐</a:t>
            </a:r>
          </a:p>
        </p:txBody>
      </p:sp>
      <p:sp>
        <p:nvSpPr>
          <p:cNvPr id="25" name="rect 13"/>
          <p:cNvSpPr/>
          <p:nvPr/>
        </p:nvSpPr>
        <p:spPr>
          <a:xfrm>
            <a:off x="1422400" y="4203700"/>
            <a:ext cx="558800" cy="1651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78000"/>
              </a:lnSpc>
            </a:pPr>
            <a:r>
              <a:rPr lang="en-US" sz="1100">
                <a:solidFill>
                  <a:srgbClr val="808080"/>
                </a:solidFill>
                <a:latin typeface="&quot;PingFang SC&quot;"/>
                <a:ea typeface="&quot;Hiragino Sans GB&quot;"/>
              </a:rPr>
              <a:t>¥88.00</a:t>
            </a:r>
          </a:p>
        </p:txBody>
      </p:sp>
      <p:sp>
        <p:nvSpPr>
          <p:cNvPr id="26" name="roundRect 12"/>
          <p:cNvSpPr/>
          <p:nvPr/>
        </p:nvSpPr>
        <p:spPr>
          <a:xfrm>
            <a:off x="4191000" y="3975100"/>
            <a:ext cx="6604000" cy="279400"/>
          </a:xfrm>
          <a:prstGeom prst="roundRect">
            <a:avLst>
              <a:gd fmla="val 50000" name="adj"/>
            </a:avLst>
          </a:prstGeom>
          <a:solidFill>
            <a:srgbClr val="F1F5F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7" name="roundRect 13"/>
          <p:cNvSpPr/>
          <p:nvPr/>
        </p:nvSpPr>
        <p:spPr>
          <a:xfrm>
            <a:off x="4191000" y="3975100"/>
            <a:ext cx="1270000" cy="279400"/>
          </a:xfrm>
          <a:prstGeom prst="roundRect">
            <a:avLst>
              <a:gd fmla="val 50000" name="adj"/>
            </a:avLst>
          </a:prstGeom>
          <a:solidFill>
            <a:srgbClr val="70AD4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8" name="rect 14"/>
          <p:cNvSpPr/>
          <p:nvPr/>
        </p:nvSpPr>
        <p:spPr>
          <a:xfrm>
            <a:off x="5613400" y="4191000"/>
            <a:ext cx="469900" cy="1778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5000"/>
              </a:lnSpc>
            </a:pPr>
            <a:r>
              <a:rPr lang="en-US" sz="1200" b="1">
                <a:solidFill>
                  <a:srgbClr val="1F4E79"/>
                </a:solidFill>
                <a:latin typeface="&quot;PingFang SC&quot;"/>
                <a:ea typeface="&quot;Hiragino Sans GB&quot;"/>
              </a:rPr>
              <a:t>7.8%</a:t>
            </a:r>
          </a:p>
        </p:txBody>
      </p:sp>
      <p:sp>
        <p:nvSpPr>
          <p:cNvPr id="29" name="roundRect 14"/>
          <p:cNvSpPr/>
          <p:nvPr/>
        </p:nvSpPr>
        <p:spPr>
          <a:xfrm>
            <a:off x="1117600" y="4572000"/>
            <a:ext cx="177800" cy="177800"/>
          </a:xfrm>
          <a:prstGeom prst="roundRect">
            <a:avLst>
              <a:gd fmla="val 21429" name="adj"/>
            </a:avLst>
          </a:prstGeom>
          <a:solidFill>
            <a:srgbClr val="5B9BD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" name="rect 15"/>
          <p:cNvSpPr/>
          <p:nvPr/>
        </p:nvSpPr>
        <p:spPr>
          <a:xfrm>
            <a:off x="1422400" y="4635500"/>
            <a:ext cx="457200" cy="2159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4000"/>
              </a:lnSpc>
            </a:pPr>
            <a:r>
              <a:rPr lang="zh-CN" sz="1400" b="1">
                <a:solidFill>
                  <a:srgbClr val="333333"/>
                </a:solidFill>
                <a:latin typeface="&quot;PingFang SC&quot;"/>
                <a:ea typeface="&quot;PingFang SC&quot;"/>
              </a:rPr>
              <a:t>交通</a:t>
            </a:r>
          </a:p>
        </p:txBody>
      </p:sp>
      <p:sp>
        <p:nvSpPr>
          <p:cNvPr id="31" name="rect 16"/>
          <p:cNvSpPr/>
          <p:nvPr/>
        </p:nvSpPr>
        <p:spPr>
          <a:xfrm>
            <a:off x="1422400" y="4914900"/>
            <a:ext cx="546100" cy="1651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78000"/>
              </a:lnSpc>
            </a:pPr>
            <a:r>
              <a:rPr lang="en-US" sz="1100">
                <a:solidFill>
                  <a:srgbClr val="808080"/>
                </a:solidFill>
                <a:latin typeface="&quot;PingFang SC&quot;"/>
                <a:ea typeface="&quot;Hiragino Sans GB&quot;"/>
              </a:rPr>
              <a:t>¥77.00</a:t>
            </a:r>
          </a:p>
        </p:txBody>
      </p:sp>
      <p:sp>
        <p:nvSpPr>
          <p:cNvPr id="32" name="roundRect 15"/>
          <p:cNvSpPr/>
          <p:nvPr/>
        </p:nvSpPr>
        <p:spPr>
          <a:xfrm>
            <a:off x="4191000" y="4686300"/>
            <a:ext cx="6604000" cy="279400"/>
          </a:xfrm>
          <a:prstGeom prst="roundRect">
            <a:avLst>
              <a:gd fmla="val 50000" name="adj"/>
            </a:avLst>
          </a:prstGeom>
          <a:solidFill>
            <a:srgbClr val="F1F5F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3" name="roundRect 16"/>
          <p:cNvSpPr/>
          <p:nvPr/>
        </p:nvSpPr>
        <p:spPr>
          <a:xfrm>
            <a:off x="4191000" y="4686300"/>
            <a:ext cx="1104900" cy="279400"/>
          </a:xfrm>
          <a:prstGeom prst="roundRect">
            <a:avLst>
              <a:gd fmla="val 50000" name="adj"/>
            </a:avLst>
          </a:prstGeom>
          <a:solidFill>
            <a:srgbClr val="5B9BD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4" name="rect 17"/>
          <p:cNvSpPr/>
          <p:nvPr/>
        </p:nvSpPr>
        <p:spPr>
          <a:xfrm>
            <a:off x="5448300" y="4902200"/>
            <a:ext cx="482600" cy="1778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5000"/>
              </a:lnSpc>
            </a:pPr>
            <a:r>
              <a:rPr lang="en-US" sz="1200" b="1">
                <a:solidFill>
                  <a:srgbClr val="1F4E79"/>
                </a:solidFill>
                <a:latin typeface="&quot;PingFang SC&quot;"/>
                <a:ea typeface="&quot;Hiragino Sans GB&quot;"/>
              </a:rPr>
              <a:t>6.8%</a:t>
            </a:r>
          </a:p>
        </p:txBody>
      </p:sp>
      <p:sp>
        <p:nvSpPr>
          <p:cNvPr id="35" name="roundRect 17"/>
          <p:cNvSpPr/>
          <p:nvPr/>
        </p:nvSpPr>
        <p:spPr>
          <a:xfrm>
            <a:off x="1117600" y="5283200"/>
            <a:ext cx="177800" cy="177800"/>
          </a:xfrm>
          <a:prstGeom prst="roundRect">
            <a:avLst>
              <a:gd fmla="val 21429" name="adj"/>
            </a:avLst>
          </a:prstGeom>
          <a:solidFill>
            <a:srgbClr val="C0392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6" name="rect 18"/>
          <p:cNvSpPr/>
          <p:nvPr/>
        </p:nvSpPr>
        <p:spPr>
          <a:xfrm>
            <a:off x="1422400" y="5346700"/>
            <a:ext cx="457200" cy="2159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4000"/>
              </a:lnSpc>
            </a:pPr>
            <a:r>
              <a:rPr lang="zh-CN" sz="1400" b="1">
                <a:solidFill>
                  <a:srgbClr val="333333"/>
                </a:solidFill>
                <a:latin typeface="&quot;PingFang SC&quot;"/>
                <a:ea typeface="&quot;PingFang SC&quot;"/>
              </a:rPr>
              <a:t>医疗</a:t>
            </a:r>
          </a:p>
        </p:txBody>
      </p:sp>
      <p:sp>
        <p:nvSpPr>
          <p:cNvPr id="37" name="rect 19"/>
          <p:cNvSpPr/>
          <p:nvPr/>
        </p:nvSpPr>
        <p:spPr>
          <a:xfrm>
            <a:off x="1422400" y="5626100"/>
            <a:ext cx="546100" cy="1651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78000"/>
              </a:lnSpc>
            </a:pPr>
            <a:r>
              <a:rPr lang="en-US" sz="1100">
                <a:solidFill>
                  <a:srgbClr val="808080"/>
                </a:solidFill>
                <a:latin typeface="&quot;PingFang SC&quot;"/>
                <a:ea typeface="&quot;Hiragino Sans GB&quot;"/>
              </a:rPr>
              <a:t>¥75.00</a:t>
            </a:r>
          </a:p>
        </p:txBody>
      </p:sp>
      <p:sp>
        <p:nvSpPr>
          <p:cNvPr id="38" name="roundRect 18"/>
          <p:cNvSpPr/>
          <p:nvPr/>
        </p:nvSpPr>
        <p:spPr>
          <a:xfrm>
            <a:off x="4191000" y="5397500"/>
            <a:ext cx="6604000" cy="279400"/>
          </a:xfrm>
          <a:prstGeom prst="roundRect">
            <a:avLst>
              <a:gd fmla="val 50000" name="adj"/>
            </a:avLst>
          </a:prstGeom>
          <a:solidFill>
            <a:srgbClr val="F1F5F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9" name="roundRect 19"/>
          <p:cNvSpPr/>
          <p:nvPr/>
        </p:nvSpPr>
        <p:spPr>
          <a:xfrm>
            <a:off x="4191000" y="5397500"/>
            <a:ext cx="1079500" cy="279400"/>
          </a:xfrm>
          <a:prstGeom prst="roundRect">
            <a:avLst>
              <a:gd fmla="val 50000" name="adj"/>
            </a:avLst>
          </a:prstGeom>
          <a:solidFill>
            <a:srgbClr val="C0392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0" name="rect 20"/>
          <p:cNvSpPr/>
          <p:nvPr/>
        </p:nvSpPr>
        <p:spPr>
          <a:xfrm>
            <a:off x="5422900" y="5613400"/>
            <a:ext cx="482600" cy="1778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5000"/>
              </a:lnSpc>
            </a:pPr>
            <a:r>
              <a:rPr lang="en-US" sz="1200" b="1">
                <a:solidFill>
                  <a:srgbClr val="1F4E79"/>
                </a:solidFill>
                <a:latin typeface="&quot;PingFang SC&quot;"/>
                <a:ea typeface="&quot;Hiragino Sans GB&quot;"/>
              </a:rPr>
              <a:t>6.6%</a:t>
            </a:r>
          </a:p>
        </p:txBody>
      </p:sp>
      <p:sp>
        <p:nvSpPr>
          <p:cNvPr id="41" name="rect 21"/>
          <p:cNvSpPr/>
          <p:nvPr/>
        </p:nvSpPr>
        <p:spPr>
          <a:xfrm>
            <a:off x="1016000" y="5956300"/>
            <a:ext cx="4305300" cy="1651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78000"/>
              </a:lnSpc>
            </a:pPr>
            <a:r>
              <a:rPr lang="zh-CN" sz="1100">
                <a:solidFill>
                  <a:srgbClr val="808080"/>
                </a:solidFill>
                <a:latin typeface="&quot;PingFang SC&quot;"/>
                <a:ea typeface="&quot;PingFang SC&quot;"/>
              </a:rPr>
              <a:t>占比 = 分类金额 ÷ 合计金额（¥1,131.80），四舍五入到 0.1 个百分点</a:t>
            </a:r>
          </a:p>
        </p:txBody>
      </p:sp>
      <p:sp>
        <p:nvSpPr>
          <p:cNvPr id="42" name="rect 22"/>
          <p:cNvSpPr/>
          <p:nvPr/>
        </p:nvSpPr>
        <p:spPr>
          <a:xfrm>
            <a:off x="1016000" y="6553200"/>
            <a:ext cx="10160000" cy="12700"/>
          </a:xfrm>
          <a:prstGeom prst="rect">
            <a:avLst/>
          </a:prstGeom>
          <a:solidFill>
            <a:srgbClr val="D9E2F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3" name="rect 23"/>
          <p:cNvSpPr/>
          <p:nvPr/>
        </p:nvSpPr>
        <p:spPr>
          <a:xfrm>
            <a:off x="1016000" y="6565900"/>
            <a:ext cx="2603500" cy="1397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68000"/>
              </a:lnSpc>
            </a:pPr>
            <a:r>
              <a:rPr lang="zh-CN" sz="900">
                <a:solidFill>
                  <a:srgbClr val="808080"/>
                </a:solidFill>
                <a:latin typeface="&quot;PingFang SC&quot;"/>
                <a:ea typeface="&quot;PingFang SC&quot;"/>
              </a:rPr>
              <a:t>2026年8月支出报告 · 数据源自《月度支出表》</a:t>
            </a:r>
          </a:p>
        </p:txBody>
      </p:sp>
      <p:sp>
        <p:nvSpPr>
          <p:cNvPr id="44" name="rect 24"/>
          <p:cNvSpPr/>
          <p:nvPr/>
        </p:nvSpPr>
        <p:spPr>
          <a:xfrm>
            <a:off x="10807700" y="6565900"/>
            <a:ext cx="368300" cy="1397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r">
              <a:lnSpc>
                <a:spcPct val="68000"/>
              </a:lnSpc>
            </a:pPr>
            <a:r>
              <a:rPr lang="en-US" sz="900">
                <a:solidFill>
                  <a:srgbClr val="808080"/>
                </a:solidFill>
                <a:latin typeface="&quot;PingFang SC&quot;"/>
                <a:ea typeface="&quot;Hiragino Sans GB&quot;"/>
              </a:rPr>
              <a:t>4 /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1"/>
          <p:cNvSpPr/>
          <p:nvPr/>
        </p:nvSpPr>
        <p:spPr>
          <a:xfrm>
            <a:off x="1016000" y="355600"/>
            <a:ext cx="1752600" cy="3937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4000"/>
              </a:lnSpc>
            </a:pPr>
            <a:r>
              <a:rPr lang="zh-CN" sz="2600" b="1">
                <a:solidFill>
                  <a:srgbClr val="1F4E79"/>
                </a:solidFill>
                <a:latin typeface="&quot;PingFang SC&quot;"/>
                <a:ea typeface="&quot;PingFang SC&quot;"/>
              </a:rPr>
              <a:t>结论与建议</a:t>
            </a:r>
          </a:p>
        </p:txBody>
      </p:sp>
      <p:sp>
        <p:nvSpPr>
          <p:cNvPr id="3" name="roundRect 1"/>
          <p:cNvSpPr/>
          <p:nvPr/>
        </p:nvSpPr>
        <p:spPr>
          <a:xfrm>
            <a:off x="1066800" y="838200"/>
            <a:ext cx="685800" cy="63500"/>
          </a:xfrm>
          <a:prstGeom prst="roundRect">
            <a:avLst>
              <a:gd fmla="val 50000" name="adj"/>
            </a:avLst>
          </a:prstGeom>
          <a:solidFill>
            <a:srgbClr val="ED7D3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 2"/>
          <p:cNvSpPr/>
          <p:nvPr/>
        </p:nvSpPr>
        <p:spPr>
          <a:xfrm>
            <a:off x="9677400" y="546100"/>
            <a:ext cx="1498600" cy="1778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r">
              <a:lnSpc>
                <a:spcPct val="85000"/>
              </a:lnSpc>
            </a:pPr>
            <a:r>
              <a:rPr lang="zh-CN" sz="1200">
                <a:solidFill>
                  <a:srgbClr val="808080"/>
                </a:solidFill>
                <a:latin typeface="&quot;PingFang SC&quot;"/>
                <a:ea typeface="&quot;PingFang SC&quot;"/>
              </a:rPr>
              <a:t>复盘 · 2026 年 8 月</a:t>
            </a:r>
          </a:p>
        </p:txBody>
      </p:sp>
      <p:sp>
        <p:nvSpPr>
          <p:cNvPr id="5" name="roundRect 2"/>
          <p:cNvSpPr/>
          <p:nvPr/>
        </p:nvSpPr>
        <p:spPr>
          <a:xfrm>
            <a:off x="1016000" y="1524000"/>
            <a:ext cx="4826000" cy="4673600"/>
          </a:xfrm>
          <a:prstGeom prst="roundRect">
            <a:avLst>
              <a:gd fmla="val 2717" name="adj"/>
            </a:avLst>
          </a:prstGeom>
          <a:solidFill>
            <a:srgbClr val="F7F9FC"/>
          </a:solidFill>
          <a:ln w="12700">
            <a:solidFill>
              <a:srgbClr val="D9E2F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" name="rect 3"/>
          <p:cNvSpPr/>
          <p:nvPr/>
        </p:nvSpPr>
        <p:spPr>
          <a:xfrm>
            <a:off x="1320800" y="1879600"/>
            <a:ext cx="50800" cy="2286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 4"/>
          <p:cNvSpPr/>
          <p:nvPr/>
        </p:nvSpPr>
        <p:spPr>
          <a:xfrm>
            <a:off x="1549400" y="1892300"/>
            <a:ext cx="508000" cy="2413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7000"/>
              </a:lnSpc>
            </a:pPr>
            <a:r>
              <a:rPr lang="zh-CN" sz="1600" b="1">
                <a:solidFill>
                  <a:srgbClr val="1F4E79"/>
                </a:solidFill>
                <a:latin typeface="&quot;PingFang SC&quot;"/>
                <a:ea typeface="&quot;PingFang SC&quot;"/>
              </a:rPr>
              <a:t>结论</a:t>
            </a:r>
          </a:p>
        </p:txBody>
      </p:sp>
      <p:sp>
        <p:nvSpPr>
          <p:cNvPr id="8" name="rect 5"/>
          <p:cNvSpPr/>
          <p:nvPr/>
        </p:nvSpPr>
        <p:spPr>
          <a:xfrm>
            <a:off x="1320800" y="2476500"/>
            <a:ext cx="88900" cy="889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 6"/>
          <p:cNvSpPr/>
          <p:nvPr/>
        </p:nvSpPr>
        <p:spPr>
          <a:xfrm>
            <a:off x="1549400" y="2438400"/>
            <a:ext cx="2540000" cy="203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7000"/>
              </a:lnSpc>
            </a:pPr>
            <a:r>
              <a:rPr lang="zh-CN" sz="1300">
                <a:solidFill>
                  <a:srgbClr val="333333"/>
                </a:solidFill>
                <a:latin typeface="&quot;PingFang SC&quot;"/>
                <a:ea typeface="&quot;PingFang SC&quot;"/>
              </a:rPr>
              <a:t>购物 + 餐饮 ¥735.40，占 65.0%</a:t>
            </a:r>
          </a:p>
        </p:txBody>
      </p:sp>
      <p:sp>
        <p:nvSpPr>
          <p:cNvPr id="10" name="rect 7"/>
          <p:cNvSpPr/>
          <p:nvPr/>
        </p:nvSpPr>
        <p:spPr>
          <a:xfrm>
            <a:off x="1320800" y="3289300"/>
            <a:ext cx="88900" cy="889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 8"/>
          <p:cNvSpPr/>
          <p:nvPr/>
        </p:nvSpPr>
        <p:spPr>
          <a:xfrm>
            <a:off x="1549400" y="3251200"/>
            <a:ext cx="3048000" cy="203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7000"/>
              </a:lnSpc>
            </a:pPr>
            <a:r>
              <a:rPr lang="zh-CN" sz="1300">
                <a:solidFill>
                  <a:srgbClr val="333333"/>
                </a:solidFill>
                <a:latin typeface="&quot;PingFang SC&quot;"/>
                <a:ea typeface="&quot;PingFang SC&quot;"/>
              </a:rPr>
              <a:t>水电燃气 ¥156.40（13.8%）为固定支出</a:t>
            </a:r>
          </a:p>
        </p:txBody>
      </p:sp>
      <p:sp>
        <p:nvSpPr>
          <p:cNvPr id="12" name="rect 9"/>
          <p:cNvSpPr/>
          <p:nvPr/>
        </p:nvSpPr>
        <p:spPr>
          <a:xfrm>
            <a:off x="1320800" y="4102100"/>
            <a:ext cx="88900" cy="889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 10"/>
          <p:cNvSpPr/>
          <p:nvPr/>
        </p:nvSpPr>
        <p:spPr>
          <a:xfrm>
            <a:off x="1549400" y="4064000"/>
            <a:ext cx="2971800" cy="203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7000"/>
              </a:lnSpc>
            </a:pPr>
            <a:r>
              <a:rPr lang="zh-CN" sz="1300">
                <a:solidFill>
                  <a:srgbClr val="333333"/>
                </a:solidFill>
                <a:latin typeface="&quot;PingFang SC&quot;"/>
                <a:ea typeface="&quot;PingFang SC&quot;"/>
              </a:rPr>
              <a:t>交通 / 娱乐 / 医疗 ¥240.00（21.2%）</a:t>
            </a:r>
          </a:p>
        </p:txBody>
      </p:sp>
      <p:sp>
        <p:nvSpPr>
          <p:cNvPr id="14" name="roundRect 3"/>
          <p:cNvSpPr/>
          <p:nvPr/>
        </p:nvSpPr>
        <p:spPr>
          <a:xfrm>
            <a:off x="1320800" y="5054600"/>
            <a:ext cx="4216400" cy="660400"/>
          </a:xfrm>
          <a:prstGeom prst="roundRect">
            <a:avLst>
              <a:gd fmla="val 11538" name="adj"/>
            </a:avLst>
          </a:prstGeom>
          <a:solidFill>
            <a:srgbClr val="DEEBF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 11"/>
          <p:cNvSpPr/>
          <p:nvPr/>
        </p:nvSpPr>
        <p:spPr>
          <a:xfrm>
            <a:off x="1549400" y="5295900"/>
            <a:ext cx="2997200" cy="1778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5000"/>
              </a:lnSpc>
            </a:pPr>
            <a:r>
              <a:rPr lang="zh-CN" sz="1200" b="1">
                <a:solidFill>
                  <a:srgbClr val="1F4E79"/>
                </a:solidFill>
                <a:latin typeface="&quot;PingFang SC&quot;"/>
                <a:ea typeface="&quot;PingFang SC&quot;"/>
              </a:rPr>
              <a:t>控制购物与餐饮预算，即可显著改善结余。</a:t>
            </a:r>
          </a:p>
        </p:txBody>
      </p:sp>
      <p:sp>
        <p:nvSpPr>
          <p:cNvPr id="16" name="roundRect 4"/>
          <p:cNvSpPr/>
          <p:nvPr/>
        </p:nvSpPr>
        <p:spPr>
          <a:xfrm>
            <a:off x="6096000" y="1524000"/>
            <a:ext cx="5080000" cy="4673600"/>
          </a:xfrm>
          <a:prstGeom prst="roundRect">
            <a:avLst>
              <a:gd fmla="val 2717" name="adj"/>
            </a:avLst>
          </a:prstGeom>
          <a:solidFill>
            <a:srgbClr val="F7F9FC"/>
          </a:solidFill>
          <a:ln w="12700">
            <a:solidFill>
              <a:srgbClr val="D9E2F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 12"/>
          <p:cNvSpPr/>
          <p:nvPr/>
        </p:nvSpPr>
        <p:spPr>
          <a:xfrm>
            <a:off x="6400800" y="1879600"/>
            <a:ext cx="50800" cy="2286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 13"/>
          <p:cNvSpPr/>
          <p:nvPr/>
        </p:nvSpPr>
        <p:spPr>
          <a:xfrm>
            <a:off x="6629400" y="1892300"/>
            <a:ext cx="1320800" cy="2413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7000"/>
              </a:lnSpc>
            </a:pPr>
            <a:r>
              <a:rPr lang="zh-CN" sz="1600" b="1">
                <a:solidFill>
                  <a:srgbClr val="1F4E79"/>
                </a:solidFill>
                <a:latin typeface="&quot;PingFang SC&quot;"/>
                <a:ea typeface="&quot;PingFang SC&quot;"/>
              </a:rPr>
              <a:t>下月行动建议</a:t>
            </a:r>
          </a:p>
        </p:txBody>
      </p:sp>
      <p:sp>
        <p:nvSpPr>
          <p:cNvPr id="19" name="ellipse 1"/>
          <p:cNvSpPr/>
          <p:nvPr/>
        </p:nvSpPr>
        <p:spPr>
          <a:xfrm>
            <a:off x="6502400" y="2387600"/>
            <a:ext cx="304800" cy="304800"/>
          </a:xfrm>
          <a:prstGeom prst="ellipse">
            <a:avLst/>
          </a:prstGeom>
          <a:solidFill>
            <a:srgbClr val="1F4E7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 14"/>
          <p:cNvSpPr/>
          <p:nvPr/>
        </p:nvSpPr>
        <p:spPr>
          <a:xfrm>
            <a:off x="6572250" y="2438400"/>
            <a:ext cx="165100" cy="1778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85000"/>
              </a:lnSpc>
            </a:pPr>
            <a:r>
              <a:rPr lang="en-US" sz="1200" b="1">
                <a:solidFill>
                  <a:srgbClr val="FFFFFF"/>
                </a:solidFill>
                <a:latin typeface="&quot;PingFang SC&quot;"/>
                <a:ea typeface="&quot;Hiragino Sans GB&quot;"/>
              </a:rPr>
              <a:t>1</a:t>
            </a:r>
          </a:p>
        </p:txBody>
      </p:sp>
      <p:sp>
        <p:nvSpPr>
          <p:cNvPr id="21" name="rect 15"/>
          <p:cNvSpPr/>
          <p:nvPr/>
        </p:nvSpPr>
        <p:spPr>
          <a:xfrm>
            <a:off x="7010400" y="2362200"/>
            <a:ext cx="1930400" cy="203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7000"/>
              </a:lnSpc>
            </a:pPr>
            <a:r>
              <a:rPr lang="zh-CN" sz="1300">
                <a:solidFill>
                  <a:srgbClr val="333333"/>
                </a:solidFill>
                <a:latin typeface="&quot;PingFang SC&quot;"/>
                <a:ea typeface="&quot;PingFang SC&quot;"/>
              </a:rPr>
              <a:t>购物类设定 ¥400 月预算</a:t>
            </a:r>
          </a:p>
        </p:txBody>
      </p:sp>
      <p:sp>
        <p:nvSpPr>
          <p:cNvPr id="22" name="rect 16"/>
          <p:cNvSpPr/>
          <p:nvPr/>
        </p:nvSpPr>
        <p:spPr>
          <a:xfrm>
            <a:off x="7010400" y="2616200"/>
            <a:ext cx="1752600" cy="203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7000"/>
              </a:lnSpc>
            </a:pPr>
            <a:r>
              <a:rPr lang="zh-CN" sz="1300">
                <a:solidFill>
                  <a:srgbClr val="595959"/>
                </a:solidFill>
                <a:latin typeface="&quot;PingFang SC&quot;"/>
                <a:ea typeface="&quot;PingFang SC&quot;"/>
              </a:rPr>
              <a:t>超限前暂停非必要采购</a:t>
            </a:r>
          </a:p>
        </p:txBody>
      </p:sp>
      <p:sp>
        <p:nvSpPr>
          <p:cNvPr id="23" name="ellipse 2"/>
          <p:cNvSpPr/>
          <p:nvPr/>
        </p:nvSpPr>
        <p:spPr>
          <a:xfrm>
            <a:off x="6502400" y="3352800"/>
            <a:ext cx="304800" cy="304800"/>
          </a:xfrm>
          <a:prstGeom prst="ellipse">
            <a:avLst/>
          </a:prstGeom>
          <a:solidFill>
            <a:srgbClr val="1F4E7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 17"/>
          <p:cNvSpPr/>
          <p:nvPr/>
        </p:nvSpPr>
        <p:spPr>
          <a:xfrm>
            <a:off x="6559550" y="3403600"/>
            <a:ext cx="190500" cy="1778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85000"/>
              </a:lnSpc>
            </a:pPr>
            <a:r>
              <a:rPr lang="en-US" sz="1200" b="1">
                <a:solidFill>
                  <a:srgbClr val="FFFFFF"/>
                </a:solidFill>
                <a:latin typeface="&quot;PingFang SC&quot;"/>
                <a:ea typeface="&quot;Hiragino Sans GB&quot;"/>
              </a:rPr>
              <a:t>2</a:t>
            </a:r>
          </a:p>
        </p:txBody>
      </p:sp>
      <p:sp>
        <p:nvSpPr>
          <p:cNvPr id="25" name="rect 18"/>
          <p:cNvSpPr/>
          <p:nvPr/>
        </p:nvSpPr>
        <p:spPr>
          <a:xfrm>
            <a:off x="7010400" y="3327400"/>
            <a:ext cx="1816100" cy="203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7000"/>
              </a:lnSpc>
            </a:pPr>
            <a:r>
              <a:rPr lang="zh-CN" sz="1300">
                <a:solidFill>
                  <a:srgbClr val="333333"/>
                </a:solidFill>
                <a:latin typeface="&quot;PingFang SC&quot;"/>
                <a:ea typeface="&quot;PingFang SC&quot;"/>
              </a:rPr>
              <a:t>餐饮 3 笔合计 ¥276.50</a:t>
            </a:r>
          </a:p>
        </p:txBody>
      </p:sp>
      <p:sp>
        <p:nvSpPr>
          <p:cNvPr id="26" name="rect 19"/>
          <p:cNvSpPr/>
          <p:nvPr/>
        </p:nvSpPr>
        <p:spPr>
          <a:xfrm>
            <a:off x="7010400" y="3581400"/>
            <a:ext cx="1422400" cy="203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7000"/>
              </a:lnSpc>
            </a:pPr>
            <a:r>
              <a:rPr lang="zh-CN" sz="1300">
                <a:solidFill>
                  <a:srgbClr val="595959"/>
                </a:solidFill>
                <a:latin typeface="&quot;PingFang SC&quot;"/>
                <a:ea typeface="&quot;PingFang SC&quot;"/>
              </a:rPr>
              <a:t>提高在家做饭比例</a:t>
            </a:r>
          </a:p>
        </p:txBody>
      </p:sp>
      <p:sp>
        <p:nvSpPr>
          <p:cNvPr id="27" name="ellipse 3"/>
          <p:cNvSpPr/>
          <p:nvPr/>
        </p:nvSpPr>
        <p:spPr>
          <a:xfrm>
            <a:off x="6502400" y="4318000"/>
            <a:ext cx="304800" cy="304800"/>
          </a:xfrm>
          <a:prstGeom prst="ellipse">
            <a:avLst/>
          </a:prstGeom>
          <a:solidFill>
            <a:srgbClr val="1F4E7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8" name="rect 20"/>
          <p:cNvSpPr/>
          <p:nvPr/>
        </p:nvSpPr>
        <p:spPr>
          <a:xfrm>
            <a:off x="6559550" y="4368800"/>
            <a:ext cx="190500" cy="1778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85000"/>
              </a:lnSpc>
            </a:pPr>
            <a:r>
              <a:rPr lang="en-US" sz="1200" b="1">
                <a:solidFill>
                  <a:srgbClr val="FFFFFF"/>
                </a:solidFill>
                <a:latin typeface="&quot;PingFang SC&quot;"/>
                <a:ea typeface="&quot;Hiragino Sans GB&quot;"/>
              </a:rPr>
              <a:t>3</a:t>
            </a:r>
          </a:p>
        </p:txBody>
      </p:sp>
      <p:sp>
        <p:nvSpPr>
          <p:cNvPr id="29" name="rect 21"/>
          <p:cNvSpPr/>
          <p:nvPr/>
        </p:nvSpPr>
        <p:spPr>
          <a:xfrm>
            <a:off x="7010400" y="4292600"/>
            <a:ext cx="1422400" cy="203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7000"/>
              </a:lnSpc>
            </a:pPr>
            <a:r>
              <a:rPr lang="zh-CN" sz="1300">
                <a:solidFill>
                  <a:srgbClr val="333333"/>
                </a:solidFill>
                <a:latin typeface="&quot;PingFang SC&quot;"/>
                <a:ea typeface="&quot;PingFang SC&quot;"/>
              </a:rPr>
              <a:t>小额支出逐笔记账</a:t>
            </a:r>
          </a:p>
        </p:txBody>
      </p:sp>
      <p:sp>
        <p:nvSpPr>
          <p:cNvPr id="30" name="rect 22"/>
          <p:cNvSpPr/>
          <p:nvPr/>
        </p:nvSpPr>
        <p:spPr>
          <a:xfrm>
            <a:off x="7010400" y="4546600"/>
            <a:ext cx="1917700" cy="203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7000"/>
              </a:lnSpc>
            </a:pPr>
            <a:r>
              <a:rPr lang="zh-CN" sz="1300">
                <a:solidFill>
                  <a:srgbClr val="595959"/>
                </a:solidFill>
                <a:latin typeface="&quot;PingFang SC&quot;"/>
                <a:ea typeface="&quot;PingFang SC&quot;"/>
              </a:rPr>
              <a:t>月底复盘娱乐与交通频次</a:t>
            </a:r>
          </a:p>
        </p:txBody>
      </p:sp>
      <p:sp>
        <p:nvSpPr>
          <p:cNvPr id="31" name="rect 23"/>
          <p:cNvSpPr/>
          <p:nvPr/>
        </p:nvSpPr>
        <p:spPr>
          <a:xfrm>
            <a:off x="1016000" y="6553200"/>
            <a:ext cx="10160000" cy="12700"/>
          </a:xfrm>
          <a:prstGeom prst="rect">
            <a:avLst/>
          </a:prstGeom>
          <a:solidFill>
            <a:srgbClr val="D9E2F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2" name="rect 24"/>
          <p:cNvSpPr/>
          <p:nvPr/>
        </p:nvSpPr>
        <p:spPr>
          <a:xfrm>
            <a:off x="1016000" y="6565900"/>
            <a:ext cx="2603500" cy="1397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68000"/>
              </a:lnSpc>
            </a:pPr>
            <a:r>
              <a:rPr lang="zh-CN" sz="900">
                <a:solidFill>
                  <a:srgbClr val="808080"/>
                </a:solidFill>
                <a:latin typeface="&quot;PingFang SC&quot;"/>
                <a:ea typeface="&quot;PingFang SC&quot;"/>
              </a:rPr>
              <a:t>2026年8月支出报告 · 数据源自《月度支出表》</a:t>
            </a:r>
          </a:p>
        </p:txBody>
      </p:sp>
      <p:sp>
        <p:nvSpPr>
          <p:cNvPr id="33" name="rect 25"/>
          <p:cNvSpPr/>
          <p:nvPr/>
        </p:nvSpPr>
        <p:spPr>
          <a:xfrm>
            <a:off x="10807700" y="6565900"/>
            <a:ext cx="368300" cy="1397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r">
              <a:lnSpc>
                <a:spcPct val="68000"/>
              </a:lnSpc>
            </a:pPr>
            <a:r>
              <a:rPr lang="en-US" sz="900">
                <a:solidFill>
                  <a:srgbClr val="808080"/>
                </a:solidFill>
                <a:latin typeface="&quot;PingFang SC&quot;"/>
                <a:ea typeface="&quot;Hiragino Sans GB&quot;"/>
              </a:rPr>
              <a:t>5 / 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/>
            </a:gs>
            <a:gs pos="100000">
              <a:schemeClr val="phClr"/>
            </a:gs>
          </a:gsLst>
          <a:lin ang="5400000" scaled="0"/>
        </a:gra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PowerPoint</Application>
  <PresentationFormat>On-screen Show (16:9)</PresentationFormat>
  <Slides>5</Slides>
  <Notes>0</Notes>
  <HiddenSlides>0</HiddenSlides>
  <MMClips>0</MMClips>
  <ScaleCrop>false</ScaleCrop>
  <HeadingPairs>
    <vt:vector size="2" baseType="variant">
      <vt:variant>
        <vt:lpstr>Theme</vt:lpstr>
      </vt:variant>
      <vt:variant>
        <vt:i4>1</vt:i4>
      </vt:variant>
    </vt:vector>
  </HeadingPairs>
  <TitlesOfParts>
    <vt:vector size="1" baseType="lpstr">
      <vt:lpstr>2026年8月支出报告</vt:lpstr>
    </vt:vector>
  </TitlesOfParts>
  <Company>Univer.ai</Company>
  <LinksUpToDate>false</LinksUpToDate>
  <SharedDoc>false</SharedDoc>
  <HyperlinksChanged>false</HyperlinksChanged>
  <AppVersion>16.0300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2026年8月支出报告</dc:title>
  <dc:creator>Univer.ai</dc:creator>
  <cp:lastModifiedBy>Univer.ai</cp:lastModifiedBy>
  <dcterms:created xsi:type="dcterms:W3CDTF">2026-01-01T00:00:00Z</dcterms:created>
  <dcterms:modified xsi:type="dcterms:W3CDTF">2026-01-01T00:00:00Z</dcterms:modified>
</cp:coreProperties>
</file>